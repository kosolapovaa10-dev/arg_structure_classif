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Economica"/>
      <p:regular r:id="rId29"/>
      <p:bold r:id="rId30"/>
      <p:italic r:id="rId31"/>
      <p:boldItalic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608824-FAC4-4C12-B6AE-DBE94685664E}">
  <a:tblStyle styleId="{96608824-FAC4-4C12-B6AE-DBE9468566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Economic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Economica-italic.fntdata"/><Relationship Id="rId30" Type="http://schemas.openxmlformats.org/officeDocument/2006/relationships/font" Target="fonts/Economica-bold.fntdata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Economica-boldItalic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eb299ee7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eb299ee7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7eb299ee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7eb299ee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7eb299ee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7eb299ee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7eb299ee7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7eb299ee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7eb299ee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7eb299ee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2b56ad0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2b56ad0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2b56ad0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2b56ad0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82b56ad0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82b56ad0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82b56ad0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82b56ad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82b56ad0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82b56ad0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7eb299ee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7eb299ee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eb299ee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7eb299ee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82b56ad0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82b56ad0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82b56ad0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82b56ad0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82b56ad0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82b56ad0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7eb299ee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7eb299ee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7eb299ee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7eb299ee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7eb299ee7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7eb299ee7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82b56ad01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82b56ad01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7eb299ee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7eb299ee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7eb299ee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7eb299ee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huggingface.co/datasets/pie/abstrc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huggingface.co/datasets/pie/abstrc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huggingface.co/datasets/pie/abstrct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572800" y="1248600"/>
            <a:ext cx="3998400" cy="26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980">
                <a:latin typeface="Times New Roman"/>
                <a:ea typeface="Times New Roman"/>
                <a:cs typeface="Times New Roman"/>
                <a:sym typeface="Times New Roman"/>
              </a:rPr>
              <a:t>Классификация отношений между компонентами аргументационной структуры</a:t>
            </a:r>
            <a:endParaRPr b="1" sz="298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72925" y="423703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ru" sz="1228">
                <a:latin typeface="Courier New"/>
                <a:ea typeface="Courier New"/>
                <a:cs typeface="Courier New"/>
                <a:sym typeface="Courier New"/>
              </a:rPr>
              <a:t>Жаренова Е., Косолапова А., Чуян Е.</a:t>
            </a:r>
            <a:endParaRPr sz="918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2741850" y="1803150"/>
            <a:ext cx="36603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3800">
                <a:latin typeface="Courier New"/>
                <a:ea typeface="Courier New"/>
                <a:cs typeface="Courier New"/>
                <a:sym typeface="Courier New"/>
              </a:rPr>
              <a:t>Существующие корпуса</a:t>
            </a:r>
            <a:endParaRPr i="1" sz="3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Argument Annotated Essays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AAE - дискурсивно-уровневый аргументационный корпус, который состоит из аргументативных эссе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Объём: 402 эссе, 7 116 предложений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Argument Annotated Essays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5450700" cy="39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000"/>
              <a:t>Разметка данных</a:t>
            </a:r>
            <a:endParaRPr i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Выделены аргументативные фрагменты: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Major claim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Claim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Premise 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Также между компонентами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различаются направленные связи: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Attack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Argument Annotated Essays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5450700" cy="39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000"/>
              <a:t>Разметка данных</a:t>
            </a:r>
            <a:endParaRPr i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Выделены аргументативные фрагменты: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Major claim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Claim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Premise                          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Также между компонентами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различаются направленные связи: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Attack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5378275" y="2155575"/>
            <a:ext cx="3521400" cy="2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Важно:</a:t>
            </a:r>
            <a:endParaRPr b="1"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❏"/>
            </a:pPr>
            <a:r>
              <a:rPr lang="ru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Каждый premise имеет ровно одну исходящую связь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❏"/>
            </a:pPr>
            <a:r>
              <a:rPr lang="ru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Claim не имеет исходящих связей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❏"/>
            </a:pPr>
            <a:r>
              <a:rPr lang="ru" sz="16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Возможны сериальные структуры (premise -&gt; premise -&gt; claim)</a:t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ctrTitle"/>
          </p:nvPr>
        </p:nvSpPr>
        <p:spPr>
          <a:xfrm>
            <a:off x="2795200" y="2187450"/>
            <a:ext cx="3660300" cy="7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3800">
                <a:latin typeface="Courier New"/>
                <a:ea typeface="Courier New"/>
                <a:cs typeface="Courier New"/>
                <a:sym typeface="Courier New"/>
              </a:rPr>
              <a:t>Подходы к решению</a:t>
            </a:r>
            <a:endParaRPr i="1" sz="3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Knowledge-Enhanced Argument Relation Classification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225225"/>
            <a:ext cx="87267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2000"/>
              <a:t>Задача</a:t>
            </a:r>
            <a:r>
              <a:rPr lang="ru" sz="2000"/>
              <a:t> - Argumentative Relation Classification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Определить тип связи между двумя аргументами:</a:t>
            </a:r>
            <a:endParaRPr sz="2000"/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Support</a:t>
            </a:r>
            <a:endParaRPr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 Attack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2000"/>
              <a:t>Особенности подхода:</a:t>
            </a:r>
            <a:endParaRPr i="1" sz="2000"/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 Не используется контекст</a:t>
            </a:r>
            <a:endParaRPr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Нет позиционных признаков</a:t>
            </a:r>
            <a:endParaRPr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Фокус только на содержании аргументов</a:t>
            </a:r>
            <a:endParaRPr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Добавляется внешнее фоновое знание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Knowledge-Enhanced Argument Relation Classification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225225"/>
            <a:ext cx="87267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Архитектура метода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2000"/>
              <a:t>1. Базовая модель — Siamese BiLSTM</a:t>
            </a:r>
            <a:endParaRPr i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• Аргументы A и B кодируются отдельно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• Использование Glove embendings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• Получаем emb(A) и emb(B)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2000"/>
              <a:t>2. Представление отношения</a:t>
            </a:r>
            <a:endParaRPr i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r(A,B) = emb(B) − emb(A)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Связь моделируется как векторный сдвиг в пространстве аргументов.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Knowledge-Enhanced Argument Relation Classification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235900"/>
            <a:ext cx="87267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Архитектура метода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2000"/>
              <a:t>3. Добавление знаний</a:t>
            </a:r>
            <a:endParaRPr i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Используются графы знаний:</a:t>
            </a:r>
            <a:endParaRPr sz="20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ConceptNet — commonsense knowledge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DBpedia — энциклопедические знания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Извлекаются:</a:t>
            </a:r>
            <a:endParaRPr sz="20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типы отношений (Antonym, RelatedTo и др.)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паттерны путей</a:t>
            </a:r>
            <a:endParaRPr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графовые статистики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После объединения признаков — классификация (Softmax).</a:t>
            </a: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Knowledge-Enhanced Argument Relation Classification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208650" y="1147225"/>
            <a:ext cx="8726700" cy="36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Результаты и вклад</a:t>
            </a:r>
            <a:endParaRPr b="1" sz="2000"/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Добавление знаний улучшает качество по сравнению с базовой нейронной моделью</a:t>
            </a:r>
            <a:endParaRPr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Модель лучше работает в случаях без явных дискурсивных маркеров</a:t>
            </a:r>
            <a:endParaRPr sz="2000"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❏"/>
            </a:pPr>
            <a:r>
              <a:rPr lang="ru" sz="2000"/>
              <a:t>Опора на семантическое содержание, а не только на форму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000"/>
              <a:t>Главное достижение:</a:t>
            </a:r>
            <a:endParaRPr b="1"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/>
              <a:t>Показано, что фоновые знания можно эффективно интегрировать в нейронную модель для аргументативного анализа.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/>
              <a:t>Это один из ранних успешных примеров knowledge-enhanced argument mining.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ctrTitle"/>
          </p:nvPr>
        </p:nvSpPr>
        <p:spPr>
          <a:xfrm>
            <a:off x="2795200" y="2187450"/>
            <a:ext cx="3660300" cy="7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3800">
                <a:latin typeface="Courier New"/>
                <a:ea typeface="Courier New"/>
                <a:cs typeface="Courier New"/>
                <a:sym typeface="Courier New"/>
              </a:rPr>
              <a:t>Данные RuArg-2022</a:t>
            </a:r>
            <a:endParaRPr i="1" sz="3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Особенности разметки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139800" y="1171900"/>
            <a:ext cx="88644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Датасет был сформирован из комментариев пользователей соцсетей VK, отобранные по ключевым словам, связанным с тремя утверждениями: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«Ношение масок полезно для общества»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«Карантин полезен для общества»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«Вакцинация полезна для общества»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Разбиение данных проводилось стратифицированно: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по тематике (маски / карантин / вакцина)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по классам (позиция и наличие аргумента)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Особенности разметки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139800" y="1171900"/>
            <a:ext cx="8864400" cy="36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Общий объём корпуса - 9 550 комментариев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Распределение примеров по тематикам и классам: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134" name="Google Shape;134;p25"/>
          <p:cNvGraphicFramePr/>
          <p:nvPr/>
        </p:nvGraphicFramePr>
        <p:xfrm>
          <a:off x="274875" y="2171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{96608824-FAC4-4C12-B6AE-DBE94685664E}</a:tableStyleId>
              </a:tblPr>
              <a:tblGrid>
                <a:gridCol w="1718850"/>
                <a:gridCol w="1718850"/>
                <a:gridCol w="1718850"/>
                <a:gridCol w="1718850"/>
                <a:gridCol w="1718850"/>
              </a:tblGrid>
              <a:tr h="107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Тема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За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Против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Другое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Нет аргумента/Неактуально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Маски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999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3516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2621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2414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Карантин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828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2483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1905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4334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6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Вакцина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527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1782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1230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6011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Процедура разметки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139800" y="1040500"/>
            <a:ext cx="8864400" cy="3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Датасет размечался вручную по двум подзадачам: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2104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Stance detection — определение позиции автора относительно заданного утверждения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210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Premise classification — определение наличия аргумента (довода) и его полярности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Аннотаторы — профессиональные лингвисты и психологи.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900">
                <a:latin typeface="Courier New"/>
                <a:ea typeface="Courier New"/>
                <a:cs typeface="Courier New"/>
                <a:sym typeface="Courier New"/>
              </a:rPr>
              <a:t>Stance Annotation (разметка позиции)</a:t>
            </a:r>
            <a:endParaRPr i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Каждый аннотатор указывал позицию автора относительно каждого из трёх утверждений: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2104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for (за)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210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against (против)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210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other — нейтральная / противоречивая / неясная позиция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2104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irrelevant — предложение не относится к теме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Процедура разметки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139800" y="1040500"/>
            <a:ext cx="8864400" cy="3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900">
                <a:latin typeface="Courier New"/>
                <a:ea typeface="Courier New"/>
                <a:cs typeface="Courier New"/>
                <a:sym typeface="Courier New"/>
              </a:rPr>
              <a:t>Premise Annotation (разметка аргументов / доводов)</a:t>
            </a:r>
            <a:endParaRPr i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Каждое предложение, размеченное на предыдущем этапе, дополнительно проверялось на наличие довода (premise) для каждого утверждения.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Метки для premises: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for — аргумент «за»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against — аргумент «против»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no argument — нет аргумента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irrelevant — не содержит ни позиции, ни довода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Верификация разметки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139800" y="1040500"/>
            <a:ext cx="8864400" cy="39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900">
                <a:latin typeface="Courier New"/>
                <a:ea typeface="Courier New"/>
                <a:cs typeface="Courier New"/>
                <a:sym typeface="Courier New"/>
              </a:rPr>
              <a:t>Организаторы просмотрели контингентные таблицы (совместные распределения меток) по обеим подзадачам и проверяли две ключевые ошибки:</a:t>
            </a:r>
            <a:endParaRPr i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i="1" lang="ru" sz="1900">
                <a:latin typeface="Courier New"/>
                <a:ea typeface="Courier New"/>
                <a:cs typeface="Courier New"/>
                <a:sym typeface="Courier New"/>
              </a:rPr>
              <a:t>Нерелевантное предложение не может быть релевантным для другой подзадачи, то есть если аннотаторы пометили его как irrelevant для stance, оно не должно иметь релевантную разметку по premise.</a:t>
            </a:r>
            <a:endParaRPr i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i="1" lang="ru" sz="1900">
                <a:latin typeface="Courier New"/>
                <a:ea typeface="Courier New"/>
                <a:cs typeface="Courier New"/>
                <a:sym typeface="Courier New"/>
              </a:rPr>
              <a:t>Совпадение полярностей — если предложение содержит и stance, и premise, то их полярности должны совпадать (оба «за» или оба «против»).</a:t>
            </a:r>
            <a:endParaRPr i="1" sz="1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ctrTitle"/>
          </p:nvPr>
        </p:nvSpPr>
        <p:spPr>
          <a:xfrm>
            <a:off x="2795200" y="2187450"/>
            <a:ext cx="3660300" cy="7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3800">
                <a:latin typeface="Courier New"/>
                <a:ea typeface="Courier New"/>
                <a:cs typeface="Courier New"/>
                <a:sym typeface="Courier New"/>
              </a:rPr>
              <a:t>Наш проект</a:t>
            </a:r>
            <a:endParaRPr i="1" sz="3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Выбранный датасет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202750" y="1257250"/>
            <a:ext cx="88644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Корпус медицинских текстов, имеющих аргументационную структуру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Каждый пример содержит: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Исходный текст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Список элементов аргументационной структуры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Список отношений между элементами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" name="Google Shape;164;p30"/>
          <p:cNvSpPr txBox="1"/>
          <p:nvPr/>
        </p:nvSpPr>
        <p:spPr>
          <a:xfrm>
            <a:off x="202750" y="4570600"/>
            <a:ext cx="646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chemeClr val="hlink"/>
                </a:solidFill>
                <a:hlinkClick r:id="rId3"/>
              </a:rPr>
              <a:t>Карточка датасета на Hugging Face</a:t>
            </a:r>
            <a:endParaRPr sz="1000">
              <a:solidFill>
                <a:srgbClr val="B45F0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Выбранный датасет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202750" y="1257250"/>
            <a:ext cx="8864400" cy="31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Корпус медицинских текстов, имеющих аргументационную структуру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Типы элементов: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0201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Claim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Premise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Типы отношений: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0201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Support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Attack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020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ourier New"/>
              <a:buChar char="❏"/>
            </a:pPr>
            <a:r>
              <a:rPr lang="ru" sz="1900">
                <a:latin typeface="Courier New"/>
                <a:ea typeface="Courier New"/>
                <a:cs typeface="Courier New"/>
                <a:sym typeface="Courier New"/>
              </a:rPr>
              <a:t>Partial-Attack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202750" y="4570600"/>
            <a:ext cx="646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chemeClr val="hlink"/>
                </a:solidFill>
                <a:hlinkClick r:id="rId3"/>
              </a:rPr>
              <a:t>Карточка датасета на Hugging Face</a:t>
            </a:r>
            <a:endParaRPr sz="1000">
              <a:solidFill>
                <a:srgbClr val="B45F0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Выбранный датасет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7" name="Google Shape;177;p32"/>
          <p:cNvSpPr txBox="1"/>
          <p:nvPr/>
        </p:nvSpPr>
        <p:spPr>
          <a:xfrm>
            <a:off x="202750" y="4570600"/>
            <a:ext cx="646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u="sng">
                <a:solidFill>
                  <a:schemeClr val="hlink"/>
                </a:solidFill>
                <a:hlinkClick r:id="rId3"/>
              </a:rPr>
              <a:t>Карточка датасета на Hugging Face</a:t>
            </a:r>
            <a:endParaRPr sz="1000">
              <a:solidFill>
                <a:srgbClr val="B45F06"/>
              </a:solidFill>
            </a:endParaRPr>
          </a:p>
        </p:txBody>
      </p:sp>
      <p:graphicFrame>
        <p:nvGraphicFramePr>
          <p:cNvPr id="178" name="Google Shape;178;p32"/>
          <p:cNvGraphicFramePr/>
          <p:nvPr/>
        </p:nvGraphicFramePr>
        <p:xfrm>
          <a:off x="1886938" y="104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{96608824-FAC4-4C12-B6AE-DBE94685664E}</a:tableStyleId>
              </a:tblPr>
              <a:tblGrid>
                <a:gridCol w="2685050"/>
                <a:gridCol w="2685050"/>
              </a:tblGrid>
              <a:tr h="3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Подкатегория/Класс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Количество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Компоненты </a:t>
                      </a:r>
                      <a:r>
                        <a:rPr i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аргументационной</a:t>
                      </a:r>
                      <a:r>
                        <a:rPr i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структуры</a:t>
                      </a:r>
                      <a:endParaRPr i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Major Claim 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129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Claim 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1282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Premise 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2842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Типы отношений</a:t>
                      </a:r>
                      <a:endParaRPr i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6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Support</a:t>
                      </a: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2289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Partial Attack 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275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Attack </a:t>
                      </a:r>
                      <a:endParaRPr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69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5F0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">
                <a:latin typeface="Courier New"/>
                <a:ea typeface="Courier New"/>
                <a:cs typeface="Courier New"/>
                <a:sym typeface="Courier New"/>
              </a:rPr>
              <a:t>Методика</a:t>
            </a:r>
            <a:endParaRPr b="1"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Аугментация данных - перевод текстов на другой язык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Выбранный метод: дообучение энкодерной модели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2092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>
                <a:latin typeface="Courier New"/>
                <a:ea typeface="Courier New"/>
                <a:cs typeface="Courier New"/>
                <a:sym typeface="Courier New"/>
              </a:rPr>
              <a:t>Литература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225225"/>
            <a:ext cx="8780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Kobbe, J., Opitz, J., Becker, M., Hulpuş, I., Stuckenschmidt, H., &amp; Frank, A. (2019). </a:t>
            </a:r>
            <a:r>
              <a:rPr i="1" lang="ru" sz="1500">
                <a:latin typeface="Times New Roman"/>
                <a:ea typeface="Times New Roman"/>
                <a:cs typeface="Times New Roman"/>
                <a:sym typeface="Times New Roman"/>
              </a:rPr>
              <a:t>Exploiting background knowledge for argumentative relation classification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. OpenAccess Series in Informatics, 70. https://doi.org/10.4230/OASIcs.LDK.2019.8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Stab, C., &amp; Gurevych, I. (2017). </a:t>
            </a:r>
            <a:r>
              <a:rPr i="1" lang="ru" sz="1500">
                <a:latin typeface="Times New Roman"/>
                <a:ea typeface="Times New Roman"/>
                <a:cs typeface="Times New Roman"/>
                <a:sym typeface="Times New Roman"/>
              </a:rPr>
              <a:t>Parsing Argumentation Structures in Persuasive Essays</a:t>
            </a:r>
            <a:r>
              <a:rPr lang="ru" sz="1500">
                <a:latin typeface="Times New Roman"/>
                <a:ea typeface="Times New Roman"/>
                <a:cs typeface="Times New Roman"/>
                <a:sym typeface="Times New Roman"/>
              </a:rPr>
              <a:t>. https://doi.org/10.1162/COLI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