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Economica"/>
      <p:regular r:id="rId19"/>
      <p:bold r:id="rId20"/>
      <p:italic r:id="rId21"/>
      <p:boldItalic r:id="rId22"/>
    </p:embeddedFont>
    <p:embeddedFont>
      <p:font typeface="Open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conomica-bold.fntdata"/><Relationship Id="rId22" Type="http://schemas.openxmlformats.org/officeDocument/2006/relationships/font" Target="fonts/Economica-boldItalic.fntdata"/><Relationship Id="rId21" Type="http://schemas.openxmlformats.org/officeDocument/2006/relationships/font" Target="fonts/Economica-italic.fntdata"/><Relationship Id="rId24" Type="http://schemas.openxmlformats.org/officeDocument/2006/relationships/font" Target="fonts/OpenSans-bold.fntdata"/><Relationship Id="rId23" Type="http://schemas.openxmlformats.org/officeDocument/2006/relationships/font" Target="fonts/Open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Italic.fntdata"/><Relationship Id="rId25" Type="http://schemas.openxmlformats.org/officeDocument/2006/relationships/font" Target="fonts/Open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Economica-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cc02d2ac7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cc02d2ac7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1a5f9209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1a5f9209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1a5f9209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d1a5f9209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1a5f9209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d1a5f9209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c02d2ac7d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c02d2ac7d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c02d2ac7d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cc02d2ac7d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1a5f9209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1a5f9209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1bfa60b4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1bfa60b4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1a5f9209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1a5f9209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1bfa60b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1bfa60b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1a5f9209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1a5f9209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cc02d2ac7d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cc02d2ac7d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2760626" y="726475"/>
            <a:ext cx="3644100" cy="3661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ru" sz="2880"/>
              <a:t>Классификация отношений между элементами аргументативной структуры.</a:t>
            </a:r>
            <a:endParaRPr sz="2880"/>
          </a:p>
          <a:p>
            <a:pPr indent="0" lvl="0" marL="0" rtl="0" algn="ctr">
              <a:spcBef>
                <a:spcPts val="0"/>
              </a:spcBef>
              <a:spcAft>
                <a:spcPts val="0"/>
              </a:spcAft>
              <a:buSzPts val="990"/>
              <a:buNone/>
            </a:pPr>
            <a:r>
              <a:t/>
            </a:r>
            <a:endParaRPr sz="2880"/>
          </a:p>
          <a:p>
            <a:pPr indent="0" lvl="0" marL="0" rtl="0" algn="ctr">
              <a:spcBef>
                <a:spcPts val="0"/>
              </a:spcBef>
              <a:spcAft>
                <a:spcPts val="0"/>
              </a:spcAft>
              <a:buSzPts val="990"/>
              <a:buNone/>
            </a:pPr>
            <a:r>
              <a:rPr lang="ru" sz="2880"/>
              <a:t>Предзащита.</a:t>
            </a:r>
            <a:endParaRPr sz="2880"/>
          </a:p>
        </p:txBody>
      </p:sp>
      <p:sp>
        <p:nvSpPr>
          <p:cNvPr id="63" name="Google Shape;63;p13"/>
          <p:cNvSpPr txBox="1"/>
          <p:nvPr>
            <p:ph idx="1" type="subTitle"/>
          </p:nvPr>
        </p:nvSpPr>
        <p:spPr>
          <a:xfrm>
            <a:off x="6404725" y="3835900"/>
            <a:ext cx="2760600" cy="12030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lang="ru">
                <a:latin typeface="Courier New"/>
                <a:ea typeface="Courier New"/>
                <a:cs typeface="Courier New"/>
                <a:sym typeface="Courier New"/>
              </a:rPr>
              <a:t>Жаренова Е., Косолапова А., Чуян Е.</a:t>
            </a:r>
            <a:endParaRPr>
              <a:latin typeface="Courier New"/>
              <a:ea typeface="Courier New"/>
              <a:cs typeface="Courier New"/>
              <a:sym typeface="Courier Ne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t>Датасет</a:t>
            </a:r>
            <a:endParaRPr/>
          </a:p>
        </p:txBody>
      </p:sp>
      <p:sp>
        <p:nvSpPr>
          <p:cNvPr id="69" name="Google Shape;69;p1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10000"/>
          </a:bodyPr>
          <a:lstStyle/>
          <a:p>
            <a:pPr indent="-355600" lvl="0" marL="457200" rtl="0" algn="l">
              <a:spcBef>
                <a:spcPts val="0"/>
              </a:spcBef>
              <a:spcAft>
                <a:spcPts val="0"/>
              </a:spcAft>
              <a:buSzPts val="2000"/>
              <a:buChar char="●"/>
            </a:pPr>
            <a:r>
              <a:rPr lang="ru" sz="2000"/>
              <a:t>Датасет – </a:t>
            </a:r>
            <a:r>
              <a:rPr i="1" lang="ru" sz="2000"/>
              <a:t>HiTZ/casimedicos-arg</a:t>
            </a:r>
            <a:endParaRPr i="1" sz="2000"/>
          </a:p>
          <a:p>
            <a:pPr indent="-355600" lvl="1" marL="914400" rtl="0" algn="l">
              <a:spcBef>
                <a:spcPts val="0"/>
              </a:spcBef>
              <a:spcAft>
                <a:spcPts val="0"/>
              </a:spcAft>
              <a:buSzPts val="2000"/>
              <a:buChar char="○"/>
            </a:pPr>
            <a:r>
              <a:rPr lang="ru" sz="2000"/>
              <a:t>данные на 4 языках </a:t>
            </a:r>
            <a:endParaRPr sz="2000"/>
          </a:p>
          <a:p>
            <a:pPr indent="0" lvl="0" marL="914400" rtl="0" algn="l">
              <a:spcBef>
                <a:spcPts val="1200"/>
              </a:spcBef>
              <a:spcAft>
                <a:spcPts val="0"/>
              </a:spcAft>
              <a:buNone/>
            </a:pPr>
            <a:r>
              <a:rPr lang="ru" sz="2000"/>
              <a:t>- английский, французский, итальянский, испанский </a:t>
            </a:r>
            <a:endParaRPr sz="2000"/>
          </a:p>
          <a:p>
            <a:pPr indent="-355600" lvl="1" marL="914400" rtl="0" algn="l">
              <a:spcBef>
                <a:spcPts val="1200"/>
              </a:spcBef>
              <a:spcAft>
                <a:spcPts val="0"/>
              </a:spcAft>
              <a:buSzPts val="2000"/>
              <a:buChar char="○"/>
            </a:pPr>
            <a:r>
              <a:rPr lang="ru" sz="2000"/>
              <a:t>по 622 текста на каждом языке </a:t>
            </a:r>
            <a:endParaRPr sz="2000"/>
          </a:p>
          <a:p>
            <a:pPr indent="-355600" lvl="1" marL="914400" rtl="0" algn="l">
              <a:spcBef>
                <a:spcPts val="0"/>
              </a:spcBef>
              <a:spcAft>
                <a:spcPts val="0"/>
              </a:spcAft>
              <a:buSzPts val="2000"/>
              <a:buChar char="○"/>
            </a:pPr>
            <a:r>
              <a:rPr lang="ru" sz="2000"/>
              <a:t>проблемы:</a:t>
            </a:r>
            <a:endParaRPr sz="2000"/>
          </a:p>
          <a:p>
            <a:pPr indent="-355600" lvl="2" marL="1371600" rtl="0" algn="l">
              <a:spcBef>
                <a:spcPts val="0"/>
              </a:spcBef>
              <a:spcAft>
                <a:spcPts val="0"/>
              </a:spcAft>
              <a:buSzPts val="2000"/>
              <a:buChar char="■"/>
            </a:pPr>
            <a:r>
              <a:rPr lang="ru" sz="2000"/>
              <a:t>relations есть только в EN</a:t>
            </a:r>
            <a:endParaRPr sz="2000"/>
          </a:p>
          <a:p>
            <a:pPr indent="-355600" lvl="2" marL="1371600" rtl="0" algn="l">
              <a:spcBef>
                <a:spcPts val="0"/>
              </a:spcBef>
              <a:spcAft>
                <a:spcPts val="0"/>
              </a:spcAft>
              <a:buSzPts val="2000"/>
              <a:buChar char="■"/>
            </a:pPr>
            <a:r>
              <a:rPr lang="ru" sz="2000"/>
              <a:t>в других языках отсутствуют</a:t>
            </a:r>
            <a:endParaRPr sz="2000"/>
          </a:p>
          <a:p>
            <a:pPr indent="0" lvl="0" marL="457200" rtl="0" algn="l">
              <a:spcBef>
                <a:spcPts val="1200"/>
              </a:spcBef>
              <a:spcAft>
                <a:spcPts val="1200"/>
              </a:spcAft>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t>Датасет</a:t>
            </a:r>
            <a:endParaRPr/>
          </a:p>
        </p:txBody>
      </p:sp>
      <p:sp>
        <p:nvSpPr>
          <p:cNvPr id="75" name="Google Shape;75;p15"/>
          <p:cNvSpPr txBox="1"/>
          <p:nvPr>
            <p:ph idx="1" type="body"/>
          </p:nvPr>
        </p:nvSpPr>
        <p:spPr>
          <a:xfrm>
            <a:off x="3675050" y="2090025"/>
            <a:ext cx="5157300" cy="27039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ru" sz="1400">
                <a:latin typeface="Times New Roman"/>
                <a:ea typeface="Times New Roman"/>
                <a:cs typeface="Times New Roman"/>
                <a:sym typeface="Times New Roman"/>
              </a:rPr>
              <a:t>{'id': '402_183', 'text': '[[\'QUESTION\', \'TYPE:\' …], [\'Juan,\', \'a\', \'second\', \'year\' … ]]', 'labels': "[['O', 'O', 'O', 'O', 'O', 'O', 'O'], ['O', 'O'], ['B-Premise', 'I-Premise', 'I-Premise', 'I-Premise', 'I-Premise'…] 'relations': "[['There is no doubt that the doctor-patient relationship today transcends the physical environment of the consultation room\\n', 'Answer that it is important to maintain certain professional boundaries between patients and physicians and that, unfortunately, if you make the request you will not be able to accept it, so it is better not to do so\\n', 'Support'] … ]"}</a:t>
            </a:r>
            <a:endParaRPr i="1" sz="2000"/>
          </a:p>
        </p:txBody>
      </p:sp>
      <p:sp>
        <p:nvSpPr>
          <p:cNvPr id="76" name="Google Shape;76;p15"/>
          <p:cNvSpPr txBox="1"/>
          <p:nvPr/>
        </p:nvSpPr>
        <p:spPr>
          <a:xfrm>
            <a:off x="4615175" y="1305300"/>
            <a:ext cx="3263100" cy="61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1"/>
                </a:solidFill>
                <a:latin typeface="Times New Roman"/>
                <a:ea typeface="Times New Roman"/>
                <a:cs typeface="Times New Roman"/>
                <a:sym typeface="Times New Roman"/>
              </a:rPr>
              <a:t>Пример:</a:t>
            </a:r>
            <a:endParaRPr sz="1800">
              <a:solidFill>
                <a:schemeClr val="dk1"/>
              </a:solidFill>
              <a:latin typeface="Times New Roman"/>
              <a:ea typeface="Times New Roman"/>
              <a:cs typeface="Times New Roman"/>
              <a:sym typeface="Times New Roman"/>
            </a:endParaRPr>
          </a:p>
        </p:txBody>
      </p:sp>
      <p:sp>
        <p:nvSpPr>
          <p:cNvPr id="77" name="Google Shape;77;p15"/>
          <p:cNvSpPr txBox="1"/>
          <p:nvPr/>
        </p:nvSpPr>
        <p:spPr>
          <a:xfrm>
            <a:off x="442875" y="1227575"/>
            <a:ext cx="3744900" cy="24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2000">
                <a:solidFill>
                  <a:schemeClr val="dk1"/>
                </a:solidFill>
                <a:latin typeface="Times New Roman"/>
                <a:ea typeface="Times New Roman"/>
                <a:cs typeface="Times New Roman"/>
                <a:sym typeface="Times New Roman"/>
              </a:rPr>
              <a:t>Структура:</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AutoNum type="arabicPeriod"/>
            </a:pPr>
            <a:r>
              <a:rPr lang="ru" sz="2000">
                <a:solidFill>
                  <a:schemeClr val="dk1"/>
                </a:solidFill>
                <a:latin typeface="Times New Roman"/>
                <a:ea typeface="Times New Roman"/>
                <a:cs typeface="Times New Roman"/>
                <a:sym typeface="Times New Roman"/>
              </a:rPr>
              <a:t>Текст</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AutoNum type="arabicPeriod"/>
            </a:pPr>
            <a:r>
              <a:rPr lang="ru" sz="2000">
                <a:solidFill>
                  <a:schemeClr val="dk1"/>
                </a:solidFill>
                <a:latin typeface="Times New Roman"/>
                <a:ea typeface="Times New Roman"/>
                <a:cs typeface="Times New Roman"/>
                <a:sym typeface="Times New Roman"/>
              </a:rPr>
              <a:t>BIO-разметка</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AutoNum type="arabicPeriod"/>
            </a:pPr>
            <a:r>
              <a:rPr lang="ru" sz="2000">
                <a:solidFill>
                  <a:schemeClr val="dk1"/>
                </a:solidFill>
                <a:latin typeface="Times New Roman"/>
                <a:ea typeface="Times New Roman"/>
                <a:cs typeface="Times New Roman"/>
                <a:sym typeface="Times New Roman"/>
              </a:rPr>
              <a:t>Отношения</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549900"/>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ru" sz="3700"/>
              <a:t>Идея решения - автоматическая генерация relations для других языков </a:t>
            </a:r>
            <a:endParaRPr sz="3700"/>
          </a:p>
        </p:txBody>
      </p:sp>
      <p:sp>
        <p:nvSpPr>
          <p:cNvPr id="83" name="Google Shape;83;p16"/>
          <p:cNvSpPr txBox="1"/>
          <p:nvPr>
            <p:ph idx="1" type="body"/>
          </p:nvPr>
        </p:nvSpPr>
        <p:spPr>
          <a:xfrm>
            <a:off x="384925" y="1381200"/>
            <a:ext cx="8520600" cy="3855000"/>
          </a:xfrm>
          <a:prstGeom prst="rect">
            <a:avLst/>
          </a:prstGeom>
        </p:spPr>
        <p:txBody>
          <a:bodyPr anchorCtr="0" anchor="t" bIns="91425" lIns="91425" spcFirstLastPara="1" rIns="91425" wrap="square" tIns="91425">
            <a:normAutofit fontScale="62500" lnSpcReduction="20000"/>
          </a:bodyPr>
          <a:lstStyle/>
          <a:p>
            <a:pPr indent="0" lvl="0" marL="0" rtl="0" algn="l">
              <a:spcBef>
                <a:spcPts val="1200"/>
              </a:spcBef>
              <a:spcAft>
                <a:spcPts val="0"/>
              </a:spcAft>
              <a:buNone/>
            </a:pPr>
            <a:r>
              <a:rPr b="1" lang="ru" sz="4150"/>
              <a:t>Pipeline:</a:t>
            </a:r>
            <a:endParaRPr b="1" sz="4150"/>
          </a:p>
          <a:p>
            <a:pPr indent="-393303" lvl="0" marL="457200" rtl="0" algn="l">
              <a:spcBef>
                <a:spcPts val="1200"/>
              </a:spcBef>
              <a:spcAft>
                <a:spcPts val="0"/>
              </a:spcAft>
              <a:buSzPct val="100000"/>
              <a:buFont typeface="Open Sans"/>
              <a:buAutoNum type="arabicPeriod"/>
            </a:pPr>
            <a:r>
              <a:rPr lang="ru" sz="4150"/>
              <a:t>BIO → аргументы</a:t>
            </a:r>
            <a:br>
              <a:rPr lang="ru" sz="4150"/>
            </a:br>
            <a:endParaRPr sz="4150"/>
          </a:p>
          <a:p>
            <a:pPr indent="-393303" lvl="0" marL="457200" rtl="0" algn="l">
              <a:spcBef>
                <a:spcPts val="0"/>
              </a:spcBef>
              <a:spcAft>
                <a:spcPts val="0"/>
              </a:spcAft>
              <a:buSzPct val="100000"/>
              <a:buFont typeface="Open Sans"/>
              <a:buAutoNum type="arabicPeriod"/>
            </a:pPr>
            <a:r>
              <a:rPr lang="ru" sz="4150"/>
              <a:t>эмбеддинги (multilingual-e5)</a:t>
            </a:r>
            <a:br>
              <a:rPr lang="ru" sz="4150"/>
            </a:br>
            <a:endParaRPr sz="4150"/>
          </a:p>
          <a:p>
            <a:pPr indent="-393303" lvl="0" marL="457200" rtl="0" algn="l">
              <a:spcBef>
                <a:spcPts val="0"/>
              </a:spcBef>
              <a:spcAft>
                <a:spcPts val="0"/>
              </a:spcAft>
              <a:buSzPct val="100000"/>
              <a:buFont typeface="Open Sans"/>
              <a:buAutoNum type="arabicPeriod"/>
            </a:pPr>
            <a:r>
              <a:rPr lang="ru" sz="4150"/>
              <a:t>поиск соответствий</a:t>
            </a:r>
            <a:br>
              <a:rPr lang="ru" sz="4150"/>
            </a:br>
            <a:endParaRPr sz="4150"/>
          </a:p>
          <a:p>
            <a:pPr indent="-393303" lvl="0" marL="457200" rtl="0" algn="l">
              <a:spcBef>
                <a:spcPts val="0"/>
              </a:spcBef>
              <a:spcAft>
                <a:spcPts val="0"/>
              </a:spcAft>
              <a:buSzPct val="100000"/>
              <a:buFont typeface="Open Sans"/>
              <a:buAutoNum type="arabicPeriod"/>
            </a:pPr>
            <a:r>
              <a:rPr lang="ru" sz="4150"/>
              <a:t>перенос relations</a:t>
            </a:r>
            <a:endParaRPr sz="2000"/>
          </a:p>
          <a:p>
            <a:pPr indent="0" lvl="0" marL="457200" rtl="0" algn="l">
              <a:spcBef>
                <a:spcPts val="1200"/>
              </a:spcBef>
              <a:spcAft>
                <a:spcPts val="1200"/>
              </a:spcAft>
              <a:buNone/>
            </a:pPr>
            <a:r>
              <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1741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ru"/>
              <a:t>Результат обработки данных</a:t>
            </a:r>
            <a:endParaRPr/>
          </a:p>
        </p:txBody>
      </p:sp>
      <p:sp>
        <p:nvSpPr>
          <p:cNvPr id="89" name="Google Shape;89;p17"/>
          <p:cNvSpPr txBox="1"/>
          <p:nvPr>
            <p:ph idx="1" type="body"/>
          </p:nvPr>
        </p:nvSpPr>
        <p:spPr>
          <a:xfrm>
            <a:off x="311700" y="1005425"/>
            <a:ext cx="8676300" cy="1080900"/>
          </a:xfrm>
          <a:prstGeom prst="rect">
            <a:avLst/>
          </a:prstGeom>
        </p:spPr>
        <p:txBody>
          <a:bodyPr anchorCtr="0" anchor="t" bIns="91425" lIns="91425" spcFirstLastPara="1" rIns="91425" wrap="square" tIns="91425">
            <a:noAutofit/>
          </a:bodyPr>
          <a:lstStyle/>
          <a:p>
            <a:pPr indent="-352108" lvl="0" marL="457200" rtl="0" algn="l">
              <a:lnSpc>
                <a:spcPct val="105000"/>
              </a:lnSpc>
              <a:spcBef>
                <a:spcPts val="1200"/>
              </a:spcBef>
              <a:spcAft>
                <a:spcPts val="0"/>
              </a:spcAft>
              <a:buSzPts val="1945"/>
              <a:buFont typeface="Open Sans"/>
              <a:buChar char="●"/>
            </a:pPr>
            <a:r>
              <a:rPr lang="ru" sz="1945"/>
              <a:t>relations сгенерированы для ES / FR / IT</a:t>
            </a:r>
            <a:endParaRPr sz="1945"/>
          </a:p>
          <a:p>
            <a:pPr indent="-352108" lvl="0" marL="457200" rtl="0" algn="l">
              <a:lnSpc>
                <a:spcPct val="105000"/>
              </a:lnSpc>
              <a:spcBef>
                <a:spcPts val="0"/>
              </a:spcBef>
              <a:spcAft>
                <a:spcPts val="0"/>
              </a:spcAft>
              <a:buSzPts val="1945"/>
              <a:buFont typeface="Open Sans"/>
              <a:buChar char="●"/>
            </a:pPr>
            <a:r>
              <a:rPr lang="ru" sz="1945"/>
              <a:t>большинство документов получили связи</a:t>
            </a:r>
            <a:endParaRPr sz="1945"/>
          </a:p>
          <a:p>
            <a:pPr indent="0" lvl="0" marL="0" rtl="0" algn="l">
              <a:lnSpc>
                <a:spcPct val="105000"/>
              </a:lnSpc>
              <a:spcBef>
                <a:spcPts val="1200"/>
              </a:spcBef>
              <a:spcAft>
                <a:spcPts val="1200"/>
              </a:spcAft>
              <a:buSzPts val="523"/>
              <a:buNone/>
            </a:pPr>
            <a:r>
              <a:t/>
            </a:r>
            <a:endParaRPr b="1" sz="2494"/>
          </a:p>
        </p:txBody>
      </p:sp>
      <p:pic>
        <p:nvPicPr>
          <p:cNvPr id="90" name="Google Shape;90;p17" title="Снимок экрана 2026-03-22 в 23.18.21.png"/>
          <p:cNvPicPr preferRelativeResize="0"/>
          <p:nvPr/>
        </p:nvPicPr>
        <p:blipFill rotWithShape="1">
          <a:blip r:embed="rId3">
            <a:alphaModFix/>
          </a:blip>
          <a:srcRect b="564" l="0" r="0" t="554"/>
          <a:stretch/>
        </p:blipFill>
        <p:spPr>
          <a:xfrm>
            <a:off x="478225" y="1918025"/>
            <a:ext cx="8157324" cy="2841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t>Модель </a:t>
            </a:r>
            <a:endParaRPr/>
          </a:p>
        </p:txBody>
      </p:sp>
      <p:sp>
        <p:nvSpPr>
          <p:cNvPr id="96" name="Google Shape;96;p1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ru" sz="2000"/>
              <a:t>Используем модель </a:t>
            </a:r>
            <a:r>
              <a:rPr i="1" lang="ru" sz="2000"/>
              <a:t>FacebookAI/xlm-roberta-base</a:t>
            </a:r>
            <a:endParaRPr sz="2000"/>
          </a:p>
          <a:p>
            <a:pPr indent="0" lvl="0" marL="457200" rtl="0" algn="l">
              <a:spcBef>
                <a:spcPts val="1200"/>
              </a:spcBef>
              <a:spcAft>
                <a:spcPts val="0"/>
              </a:spcAft>
              <a:buNone/>
            </a:pPr>
            <a:r>
              <a:t/>
            </a:r>
            <a:endParaRPr i="1" sz="2000"/>
          </a:p>
          <a:p>
            <a:pPr indent="-355600" lvl="0" marL="457200" rtl="0" algn="l">
              <a:spcBef>
                <a:spcPts val="1200"/>
              </a:spcBef>
              <a:spcAft>
                <a:spcPts val="0"/>
              </a:spcAft>
              <a:buSzPts val="2000"/>
              <a:buChar char="●"/>
            </a:pPr>
            <a:r>
              <a:rPr lang="ru" sz="2000"/>
              <a:t>Дообучили модель на тренировочном датасете (9536 строк)</a:t>
            </a:r>
            <a:endParaRPr sz="2000"/>
          </a:p>
          <a:p>
            <a:pPr indent="0" lvl="0" marL="0" rtl="0" algn="l">
              <a:spcBef>
                <a:spcPts val="1200"/>
              </a:spcBef>
              <a:spcAft>
                <a:spcPts val="0"/>
              </a:spcAft>
              <a:buNone/>
            </a:pPr>
            <a:r>
              <a:t/>
            </a:r>
            <a:endParaRPr sz="2000"/>
          </a:p>
          <a:p>
            <a:pPr indent="-355600" lvl="0" marL="457200" rtl="0" algn="l">
              <a:spcBef>
                <a:spcPts val="1200"/>
              </a:spcBef>
              <a:spcAft>
                <a:spcPts val="0"/>
              </a:spcAft>
              <a:buSzPts val="2000"/>
              <a:buChar char="●"/>
            </a:pPr>
            <a:r>
              <a:rPr lang="ru" sz="2000"/>
              <a:t>Проверили, как работает бейслайн на тестовых данных</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19387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t>Работа базовой модели</a:t>
            </a:r>
            <a:endParaRPr/>
          </a:p>
        </p:txBody>
      </p:sp>
      <p:pic>
        <p:nvPicPr>
          <p:cNvPr id="102" name="Google Shape;102;p19" title="Снимок экрана 2026-03-22 в 23.16.55.png"/>
          <p:cNvPicPr preferRelativeResize="0"/>
          <p:nvPr/>
        </p:nvPicPr>
        <p:blipFill>
          <a:blip r:embed="rId3">
            <a:alphaModFix/>
          </a:blip>
          <a:stretch>
            <a:fillRect/>
          </a:stretch>
        </p:blipFill>
        <p:spPr>
          <a:xfrm>
            <a:off x="398025" y="1101450"/>
            <a:ext cx="8000975" cy="3366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t>Domain Adaptive Pre-training (DAPT)</a:t>
            </a:r>
            <a:endParaRPr/>
          </a:p>
        </p:txBody>
      </p:sp>
      <p:pic>
        <p:nvPicPr>
          <p:cNvPr id="108" name="Google Shape;108;p20" title="Снимок экрана 2026-03-22 в 23.00.33.png"/>
          <p:cNvPicPr preferRelativeResize="0"/>
          <p:nvPr/>
        </p:nvPicPr>
        <p:blipFill>
          <a:blip r:embed="rId3">
            <a:alphaModFix/>
          </a:blip>
          <a:stretch>
            <a:fillRect/>
          </a:stretch>
        </p:blipFill>
        <p:spPr>
          <a:xfrm>
            <a:off x="411050" y="1085900"/>
            <a:ext cx="3944474" cy="3772970"/>
          </a:xfrm>
          <a:prstGeom prst="rect">
            <a:avLst/>
          </a:prstGeom>
          <a:noFill/>
          <a:ln>
            <a:noFill/>
          </a:ln>
        </p:spPr>
      </p:pic>
      <p:sp>
        <p:nvSpPr>
          <p:cNvPr id="109" name="Google Shape;109;p20"/>
          <p:cNvSpPr txBox="1"/>
          <p:nvPr/>
        </p:nvSpPr>
        <p:spPr>
          <a:xfrm>
            <a:off x="4528500" y="1085900"/>
            <a:ext cx="4347300" cy="377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ru" sz="1600">
                <a:solidFill>
                  <a:schemeClr val="dk1"/>
                </a:solidFill>
                <a:latin typeface="Open Sans"/>
                <a:ea typeface="Open Sans"/>
                <a:cs typeface="Open Sans"/>
                <a:sym typeface="Open Sans"/>
              </a:rPr>
              <a:t>Зачем нужно:</a:t>
            </a:r>
            <a:endParaRPr b="1" sz="1600">
              <a:solidFill>
                <a:schemeClr val="dk1"/>
              </a:solidFill>
              <a:latin typeface="Open Sans"/>
              <a:ea typeface="Open Sans"/>
              <a:cs typeface="Open Sans"/>
              <a:sym typeface="Open Sans"/>
            </a:endParaRPr>
          </a:p>
          <a:p>
            <a:pPr indent="-330200" lvl="0" marL="457200" rtl="0" algn="l">
              <a:lnSpc>
                <a:spcPct val="115000"/>
              </a:lnSpc>
              <a:spcBef>
                <a:spcPts val="1200"/>
              </a:spcBef>
              <a:spcAft>
                <a:spcPts val="0"/>
              </a:spcAft>
              <a:buClr>
                <a:schemeClr val="dk1"/>
              </a:buClr>
              <a:buSzPts val="1600"/>
              <a:buFont typeface="Open Sans"/>
              <a:buChar char="●"/>
            </a:pPr>
            <a:r>
              <a:rPr lang="ru" sz="1600">
                <a:solidFill>
                  <a:schemeClr val="dk1"/>
                </a:solidFill>
                <a:latin typeface="Open Sans"/>
                <a:ea typeface="Open Sans"/>
                <a:cs typeface="Open Sans"/>
                <a:sym typeface="Open Sans"/>
              </a:rPr>
              <a:t>Модель лучше понимает специфическую лексику и структуру медицинских аргументов.</a:t>
            </a:r>
            <a:endParaRPr sz="1600">
              <a:solidFill>
                <a:schemeClr val="dk1"/>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1"/>
              </a:buClr>
              <a:buSzPts val="1600"/>
              <a:buFont typeface="Open Sans"/>
              <a:buChar char="●"/>
            </a:pPr>
            <a:r>
              <a:rPr lang="ru" sz="1600">
                <a:solidFill>
                  <a:schemeClr val="dk1"/>
                </a:solidFill>
                <a:latin typeface="Open Sans"/>
                <a:ea typeface="Open Sans"/>
                <a:cs typeface="Open Sans"/>
                <a:sym typeface="Open Sans"/>
              </a:rPr>
              <a:t>Повышается точность последующей классификации отношений между компонентами аргументов.</a:t>
            </a:r>
            <a:endParaRPr sz="1600">
              <a:solidFill>
                <a:schemeClr val="dk1"/>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1"/>
              </a:buClr>
              <a:buSzPts val="1600"/>
              <a:buFont typeface="Open Sans"/>
              <a:buChar char="●"/>
            </a:pPr>
            <a:r>
              <a:rPr lang="ru" sz="1600">
                <a:solidFill>
                  <a:schemeClr val="dk1"/>
                </a:solidFill>
                <a:latin typeface="Open Sans"/>
                <a:ea typeface="Open Sans"/>
                <a:cs typeface="Open Sans"/>
                <a:sym typeface="Open Sans"/>
              </a:rPr>
              <a:t>Уменьшает разрыв между исходным корпусом (Wikipedia / Common Crawl) и целевым медицинским доменом.</a:t>
            </a:r>
            <a:endParaRPr sz="1600">
              <a:solidFill>
                <a:schemeClr val="dk1"/>
              </a:solidFill>
              <a:latin typeface="Open Sans"/>
              <a:ea typeface="Open Sans"/>
              <a:cs typeface="Open Sans"/>
              <a:sym typeface="Open Sans"/>
            </a:endParaRPr>
          </a:p>
          <a:p>
            <a:pPr indent="0" lvl="0" marL="0" rtl="0" algn="l">
              <a:spcBef>
                <a:spcPts val="1200"/>
              </a:spcBef>
              <a:spcAft>
                <a:spcPts val="0"/>
              </a:spcAft>
              <a:buNone/>
            </a:pPr>
            <a:r>
              <a:t/>
            </a:r>
            <a:endParaRPr sz="2300">
              <a:solidFill>
                <a:schemeClr val="dk1"/>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ru"/>
              <a:t>Domain Adaptive Pre-training (DAPT)</a:t>
            </a:r>
            <a:endParaRPr/>
          </a:p>
        </p:txBody>
      </p:sp>
      <p:pic>
        <p:nvPicPr>
          <p:cNvPr id="115" name="Google Shape;115;p21"/>
          <p:cNvPicPr preferRelativeResize="0"/>
          <p:nvPr/>
        </p:nvPicPr>
        <p:blipFill>
          <a:blip r:embed="rId3">
            <a:alphaModFix/>
          </a:blip>
          <a:stretch>
            <a:fillRect/>
          </a:stretch>
        </p:blipFill>
        <p:spPr>
          <a:xfrm>
            <a:off x="1332125" y="1147225"/>
            <a:ext cx="5864076" cy="3723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615975"/>
            <a:ext cx="8520600" cy="8313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ru"/>
              <a:t>Добавили взвешенную функцию потерь</a:t>
            </a:r>
            <a:endParaRPr/>
          </a:p>
        </p:txBody>
      </p:sp>
      <p:sp>
        <p:nvSpPr>
          <p:cNvPr id="121" name="Google Shape;121;p22"/>
          <p:cNvSpPr txBox="1"/>
          <p:nvPr/>
        </p:nvSpPr>
        <p:spPr>
          <a:xfrm>
            <a:off x="3835725" y="809225"/>
            <a:ext cx="2424600" cy="64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pic>
        <p:nvPicPr>
          <p:cNvPr id="122" name="Google Shape;122;p22"/>
          <p:cNvPicPr preferRelativeResize="0"/>
          <p:nvPr/>
        </p:nvPicPr>
        <p:blipFill>
          <a:blip r:embed="rId3">
            <a:alphaModFix/>
          </a:blip>
          <a:stretch>
            <a:fillRect/>
          </a:stretch>
        </p:blipFill>
        <p:spPr>
          <a:xfrm>
            <a:off x="199000" y="1880300"/>
            <a:ext cx="6115050" cy="581025"/>
          </a:xfrm>
          <a:prstGeom prst="rect">
            <a:avLst/>
          </a:prstGeom>
          <a:noFill/>
          <a:ln>
            <a:noFill/>
          </a:ln>
        </p:spPr>
      </p:pic>
      <p:sp>
        <p:nvSpPr>
          <p:cNvPr id="123" name="Google Shape;123;p22"/>
          <p:cNvSpPr txBox="1"/>
          <p:nvPr/>
        </p:nvSpPr>
        <p:spPr>
          <a:xfrm>
            <a:off x="279700" y="1484000"/>
            <a:ext cx="5104800" cy="39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a:solidFill>
                  <a:schemeClr val="dk1"/>
                </a:solidFill>
                <a:latin typeface="Times New Roman"/>
                <a:ea typeface="Times New Roman"/>
                <a:cs typeface="Times New Roman"/>
                <a:sym typeface="Times New Roman"/>
              </a:rPr>
              <a:t>Посчитали веса классов</a:t>
            </a:r>
            <a:endParaRPr>
              <a:solidFill>
                <a:schemeClr val="dk1"/>
              </a:solidFill>
              <a:latin typeface="Times New Roman"/>
              <a:ea typeface="Times New Roman"/>
              <a:cs typeface="Times New Roman"/>
              <a:sym typeface="Times New Roman"/>
            </a:endParaRPr>
          </a:p>
        </p:txBody>
      </p:sp>
      <p:pic>
        <p:nvPicPr>
          <p:cNvPr id="124" name="Google Shape;124;p22"/>
          <p:cNvPicPr preferRelativeResize="0"/>
          <p:nvPr/>
        </p:nvPicPr>
        <p:blipFill>
          <a:blip r:embed="rId4">
            <a:alphaModFix/>
          </a:blip>
          <a:stretch>
            <a:fillRect/>
          </a:stretch>
        </p:blipFill>
        <p:spPr>
          <a:xfrm>
            <a:off x="199000" y="3107950"/>
            <a:ext cx="5045474" cy="1909825"/>
          </a:xfrm>
          <a:prstGeom prst="rect">
            <a:avLst/>
          </a:prstGeom>
          <a:noFill/>
          <a:ln>
            <a:noFill/>
          </a:ln>
        </p:spPr>
      </p:pic>
      <p:sp>
        <p:nvSpPr>
          <p:cNvPr id="125" name="Google Shape;125;p22"/>
          <p:cNvSpPr txBox="1"/>
          <p:nvPr/>
        </p:nvSpPr>
        <p:spPr>
          <a:xfrm>
            <a:off x="279700" y="2626150"/>
            <a:ext cx="6751800" cy="39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a:solidFill>
                  <a:schemeClr val="dk1"/>
                </a:solidFill>
                <a:latin typeface="Times New Roman"/>
                <a:ea typeface="Times New Roman"/>
                <a:cs typeface="Times New Roman"/>
                <a:sym typeface="Times New Roman"/>
              </a:rPr>
              <a:t>Задали новую функцию потерь с учётом весов классов</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615975"/>
            <a:ext cx="8520600" cy="8313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ru"/>
              <a:t>Добавили взвешенную функцию потерь</a:t>
            </a:r>
            <a:endParaRPr/>
          </a:p>
        </p:txBody>
      </p:sp>
      <p:sp>
        <p:nvSpPr>
          <p:cNvPr id="131" name="Google Shape;131;p23"/>
          <p:cNvSpPr txBox="1"/>
          <p:nvPr/>
        </p:nvSpPr>
        <p:spPr>
          <a:xfrm>
            <a:off x="3835725" y="809225"/>
            <a:ext cx="2424600" cy="64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pic>
        <p:nvPicPr>
          <p:cNvPr id="132" name="Google Shape;132;p23"/>
          <p:cNvPicPr preferRelativeResize="0"/>
          <p:nvPr/>
        </p:nvPicPr>
        <p:blipFill>
          <a:blip r:embed="rId3">
            <a:alphaModFix/>
          </a:blip>
          <a:stretch>
            <a:fillRect/>
          </a:stretch>
        </p:blipFill>
        <p:spPr>
          <a:xfrm>
            <a:off x="2472475" y="1135025"/>
            <a:ext cx="5653539" cy="3536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311700" y="323725"/>
            <a:ext cx="8520600" cy="8313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t/>
            </a:r>
            <a:endParaRPr/>
          </a:p>
          <a:p>
            <a:pPr indent="0" lvl="0" marL="0" rtl="0" algn="l">
              <a:spcBef>
                <a:spcPts val="0"/>
              </a:spcBef>
              <a:spcAft>
                <a:spcPts val="0"/>
              </a:spcAft>
              <a:buNone/>
            </a:pPr>
            <a:r>
              <a:rPr lang="ru"/>
              <a:t>Выводы</a:t>
            </a:r>
            <a:endParaRPr/>
          </a:p>
        </p:txBody>
      </p:sp>
      <p:sp>
        <p:nvSpPr>
          <p:cNvPr id="138" name="Google Shape;138;p24"/>
          <p:cNvSpPr txBox="1"/>
          <p:nvPr/>
        </p:nvSpPr>
        <p:spPr>
          <a:xfrm>
            <a:off x="361250" y="1285550"/>
            <a:ext cx="7814700" cy="28575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dk1"/>
              </a:buClr>
              <a:buSzPts val="2100"/>
              <a:buFont typeface="Open Sans"/>
              <a:buChar char="-"/>
            </a:pPr>
            <a:r>
              <a:rPr lang="ru" sz="2100">
                <a:solidFill>
                  <a:schemeClr val="dk1"/>
                </a:solidFill>
                <a:latin typeface="Open Sans"/>
                <a:ea typeface="Open Sans"/>
                <a:cs typeface="Open Sans"/>
                <a:sym typeface="Open Sans"/>
              </a:rPr>
              <a:t>разработан метод генерации relations для мультиязычных данных</a:t>
            </a:r>
            <a:endParaRPr sz="2100">
              <a:solidFill>
                <a:schemeClr val="dk1"/>
              </a:solidFill>
              <a:latin typeface="Open Sans"/>
              <a:ea typeface="Open Sans"/>
              <a:cs typeface="Open Sans"/>
              <a:sym typeface="Open Sans"/>
            </a:endParaRPr>
          </a:p>
          <a:p>
            <a:pPr indent="-361950" lvl="0" marL="457200" rtl="0" algn="l">
              <a:spcBef>
                <a:spcPts val="0"/>
              </a:spcBef>
              <a:spcAft>
                <a:spcPts val="0"/>
              </a:spcAft>
              <a:buClr>
                <a:schemeClr val="dk1"/>
              </a:buClr>
              <a:buSzPts val="2100"/>
              <a:buFont typeface="Open Sans"/>
              <a:buChar char="-"/>
            </a:pPr>
            <a:r>
              <a:rPr lang="ru" sz="2100">
                <a:solidFill>
                  <a:schemeClr val="dk1"/>
                </a:solidFill>
                <a:latin typeface="Open Sans"/>
                <a:ea typeface="Open Sans"/>
                <a:cs typeface="Open Sans"/>
                <a:sym typeface="Open Sans"/>
              </a:rPr>
              <a:t>расширен датасет без ручной разметки</a:t>
            </a:r>
            <a:endParaRPr sz="2100">
              <a:solidFill>
                <a:schemeClr val="dk1"/>
              </a:solidFill>
              <a:latin typeface="Open Sans"/>
              <a:ea typeface="Open Sans"/>
              <a:cs typeface="Open Sans"/>
              <a:sym typeface="Open Sans"/>
            </a:endParaRPr>
          </a:p>
          <a:p>
            <a:pPr indent="-361950" lvl="0" marL="457200" rtl="0" algn="l">
              <a:spcBef>
                <a:spcPts val="0"/>
              </a:spcBef>
              <a:spcAft>
                <a:spcPts val="0"/>
              </a:spcAft>
              <a:buClr>
                <a:schemeClr val="dk1"/>
              </a:buClr>
              <a:buSzPts val="2100"/>
              <a:buFont typeface="Open Sans"/>
              <a:buChar char="-"/>
            </a:pPr>
            <a:r>
              <a:rPr lang="ru" sz="2100">
                <a:solidFill>
                  <a:schemeClr val="dk1"/>
                </a:solidFill>
                <a:latin typeface="Open Sans"/>
                <a:ea typeface="Open Sans"/>
                <a:cs typeface="Open Sans"/>
                <a:sym typeface="Open Sans"/>
              </a:rPr>
              <a:t>обучена мультиязычная модель классификации</a:t>
            </a:r>
            <a:endParaRPr sz="2100">
              <a:solidFill>
                <a:schemeClr val="dk1"/>
              </a:solidFill>
              <a:latin typeface="Open Sans"/>
              <a:ea typeface="Open Sans"/>
              <a:cs typeface="Open Sans"/>
              <a:sym typeface="Open Sans"/>
            </a:endParaRPr>
          </a:p>
          <a:p>
            <a:pPr indent="-361950" lvl="0" marL="457200" rtl="0" algn="l">
              <a:spcBef>
                <a:spcPts val="0"/>
              </a:spcBef>
              <a:spcAft>
                <a:spcPts val="0"/>
              </a:spcAft>
              <a:buClr>
                <a:schemeClr val="dk1"/>
              </a:buClr>
              <a:buSzPts val="2100"/>
              <a:buFont typeface="Open Sans"/>
              <a:buChar char="-"/>
            </a:pPr>
            <a:r>
              <a:rPr lang="ru" sz="2100">
                <a:solidFill>
                  <a:schemeClr val="dk1"/>
                </a:solidFill>
                <a:latin typeface="Open Sans"/>
                <a:ea typeface="Open Sans"/>
                <a:cs typeface="Open Sans"/>
                <a:sym typeface="Open Sans"/>
              </a:rPr>
              <a:t>учет дисбаланса улучшает качество (особенно для Attack)</a:t>
            </a:r>
            <a:endParaRPr sz="2100">
              <a:solidFill>
                <a:schemeClr val="dk1"/>
              </a:solidFill>
              <a:latin typeface="Open Sans"/>
              <a:ea typeface="Open Sans"/>
              <a:cs typeface="Open Sans"/>
              <a:sym typeface="Open Sans"/>
            </a:endParaRPr>
          </a:p>
          <a:p>
            <a:pPr indent="-361950" lvl="0" marL="457200" rtl="0" algn="l">
              <a:spcBef>
                <a:spcPts val="0"/>
              </a:spcBef>
              <a:spcAft>
                <a:spcPts val="0"/>
              </a:spcAft>
              <a:buClr>
                <a:schemeClr val="dk1"/>
              </a:buClr>
              <a:buSzPts val="2100"/>
              <a:buFont typeface="Open Sans"/>
              <a:buChar char="-"/>
            </a:pPr>
            <a:r>
              <a:rPr lang="ru" sz="2100">
                <a:solidFill>
                  <a:schemeClr val="dk1"/>
                </a:solidFill>
                <a:latin typeface="Open Sans"/>
                <a:ea typeface="Open Sans"/>
                <a:cs typeface="Open Sans"/>
                <a:sym typeface="Open Sans"/>
              </a:rPr>
              <a:t>качество зависит от точности matching</a:t>
            </a:r>
            <a:endParaRPr sz="21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21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2100">
              <a:solidFill>
                <a:schemeClr val="dk1"/>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ru"/>
              <a:t>Дальнейшие задачи</a:t>
            </a:r>
            <a:endParaRPr/>
          </a:p>
        </p:txBody>
      </p:sp>
      <p:sp>
        <p:nvSpPr>
          <p:cNvPr id="144" name="Google Shape;144;p2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55600" lvl="0" marL="457200" rtl="0" algn="l">
              <a:lnSpc>
                <a:spcPct val="150000"/>
              </a:lnSpc>
              <a:spcBef>
                <a:spcPts val="0"/>
              </a:spcBef>
              <a:spcAft>
                <a:spcPts val="0"/>
              </a:spcAft>
              <a:buSzPts val="2000"/>
              <a:buChar char="●"/>
            </a:pPr>
            <a:r>
              <a:rPr lang="ru" sz="2000"/>
              <a:t>Улучшить качество модели с помощью </a:t>
            </a:r>
            <a:r>
              <a:rPr lang="ru" sz="2000"/>
              <a:t>threshold</a:t>
            </a:r>
            <a:r>
              <a:rPr lang="ru" sz="2000"/>
              <a:t> tuning</a:t>
            </a:r>
            <a:endParaRPr sz="2000"/>
          </a:p>
          <a:p>
            <a:pPr indent="-355600" lvl="0" marL="457200" rtl="0" algn="l">
              <a:lnSpc>
                <a:spcPct val="150000"/>
              </a:lnSpc>
              <a:spcBef>
                <a:spcPts val="0"/>
              </a:spcBef>
              <a:spcAft>
                <a:spcPts val="0"/>
              </a:spcAft>
              <a:buSzPts val="2000"/>
              <a:buChar char="●"/>
            </a:pPr>
            <a:r>
              <a:rPr lang="ru" sz="2000"/>
              <a:t>Добавить больше релевантных текстов для предобучения</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