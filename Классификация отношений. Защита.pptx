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Economica"/>
      <p:regular r:id="rId29"/>
      <p:bold r:id="rId30"/>
      <p:italic r:id="rId31"/>
      <p:boldItalic r:id="rId32"/>
    </p:embeddedFont>
    <p:embeddedFont>
      <p:font typeface="Open Sans"/>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Economica-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Economica-italic.fntdata"/><Relationship Id="rId30" Type="http://schemas.openxmlformats.org/officeDocument/2006/relationships/font" Target="fonts/Economica-bold.fntdata"/><Relationship Id="rId11" Type="http://schemas.openxmlformats.org/officeDocument/2006/relationships/slide" Target="slides/slide6.xml"/><Relationship Id="rId33" Type="http://schemas.openxmlformats.org/officeDocument/2006/relationships/font" Target="fonts/OpenSans-regular.fntdata"/><Relationship Id="rId10" Type="http://schemas.openxmlformats.org/officeDocument/2006/relationships/slide" Target="slides/slide5.xml"/><Relationship Id="rId32" Type="http://schemas.openxmlformats.org/officeDocument/2006/relationships/font" Target="fonts/Economica-boldItalic.fntdata"/><Relationship Id="rId13" Type="http://schemas.openxmlformats.org/officeDocument/2006/relationships/slide" Target="slides/slide8.xml"/><Relationship Id="rId35" Type="http://schemas.openxmlformats.org/officeDocument/2006/relationships/font" Target="fonts/OpenSans-italic.fntdata"/><Relationship Id="rId12" Type="http://schemas.openxmlformats.org/officeDocument/2006/relationships/slide" Target="slides/slide7.xml"/><Relationship Id="rId34" Type="http://schemas.openxmlformats.org/officeDocument/2006/relationships/font" Target="fonts/OpenSans-bold.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OpenSans-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d4897c5aec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d4897c5aec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d4897c5aec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d4897c5aec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d4897c5aec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d4897c5aec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d4897c5aec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d4897c5aec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d4897c5aec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d4897c5aec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d4897c5aec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d4897c5aec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d4897c5aec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d4897c5aec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d4897c5aec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d4897c5aec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d4897c5aec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d4897c5aec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d4897c5aec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d4897c5aec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4897c5aec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d4897c5aec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d4897c5aec_0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d4897c5aec_0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d4897c5aec_0_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d4897c5aec_0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d4897c5aec_0_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d4897c5aec_0_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d4897c5aec_0_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d4897c5aec_0_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d4897c5aec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d4897c5aec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d4897c5aec_0_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d4897c5aec_0_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d49b32114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d49b32114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d4897c5aec_0_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d4897c5aec_0_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d49b321142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d49b321142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d4a6cdc35f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d4a6cdc35f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d4a12cd02b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d4a12cd02b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3044700" y="900851"/>
            <a:ext cx="3054600" cy="3279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990"/>
              <a:buFont typeface="Arial"/>
              <a:buNone/>
            </a:pPr>
            <a:r>
              <a:rPr lang="ru" sz="2880">
                <a:latin typeface="Times New Roman"/>
                <a:ea typeface="Times New Roman"/>
                <a:cs typeface="Times New Roman"/>
                <a:sym typeface="Times New Roman"/>
              </a:rPr>
              <a:t>Классификация отношений между элементами аргументативной структуры</a:t>
            </a:r>
            <a:endParaRPr sz="2880">
              <a:latin typeface="Times New Roman"/>
              <a:ea typeface="Times New Roman"/>
              <a:cs typeface="Times New Roman"/>
              <a:sym typeface="Times New Roman"/>
            </a:endParaRPr>
          </a:p>
          <a:p>
            <a:pPr indent="0" lvl="0" marL="0" rtl="0" algn="ctr">
              <a:spcBef>
                <a:spcPts val="0"/>
              </a:spcBef>
              <a:spcAft>
                <a:spcPts val="0"/>
              </a:spcAft>
              <a:buNone/>
            </a:pPr>
            <a:r>
              <a:t/>
            </a:r>
            <a:endParaRPr/>
          </a:p>
        </p:txBody>
      </p:sp>
      <p:sp>
        <p:nvSpPr>
          <p:cNvPr id="63" name="Google Shape;63;p13"/>
          <p:cNvSpPr txBox="1"/>
          <p:nvPr>
            <p:ph idx="1" type="subTitle"/>
          </p:nvPr>
        </p:nvSpPr>
        <p:spPr>
          <a:xfrm>
            <a:off x="6439550" y="3516175"/>
            <a:ext cx="2484600" cy="1365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Clr>
                <a:schemeClr val="dk1"/>
              </a:buClr>
              <a:buSzPts val="1100"/>
              <a:buFont typeface="Arial"/>
              <a:buNone/>
            </a:pPr>
            <a:r>
              <a:rPr i="1" lang="ru" sz="2000">
                <a:latin typeface="Courier New"/>
                <a:ea typeface="Courier New"/>
                <a:cs typeface="Courier New"/>
                <a:sym typeface="Courier New"/>
              </a:rPr>
              <a:t>Жаренова Е., Косолапова А., Чуян Е.</a:t>
            </a:r>
            <a:endParaRPr i="1" sz="2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ru">
                <a:latin typeface="Times New Roman"/>
                <a:ea typeface="Times New Roman"/>
                <a:cs typeface="Times New Roman"/>
                <a:sym typeface="Times New Roman"/>
              </a:rPr>
              <a:t>Данные</a:t>
            </a:r>
            <a:endParaRPr>
              <a:latin typeface="Times New Roman"/>
              <a:ea typeface="Times New Roman"/>
              <a:cs typeface="Times New Roman"/>
              <a:sym typeface="Times New Roman"/>
            </a:endParaRPr>
          </a:p>
        </p:txBody>
      </p:sp>
      <p:sp>
        <p:nvSpPr>
          <p:cNvPr id="69" name="Google Shape;69;p1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lnSpcReduction="20000"/>
          </a:bodyPr>
          <a:lstStyle/>
          <a:p>
            <a:pPr indent="-355600" lvl="0" marL="457200" rtl="0" algn="l">
              <a:spcBef>
                <a:spcPts val="0"/>
              </a:spcBef>
              <a:spcAft>
                <a:spcPts val="0"/>
              </a:spcAft>
              <a:buSzPts val="2000"/>
              <a:buFont typeface="Times New Roman"/>
              <a:buChar char="●"/>
            </a:pPr>
            <a:r>
              <a:rPr lang="ru" sz="2000">
                <a:latin typeface="Times New Roman"/>
                <a:ea typeface="Times New Roman"/>
                <a:cs typeface="Times New Roman"/>
                <a:sym typeface="Times New Roman"/>
              </a:rPr>
              <a:t>Формат разметки </a:t>
            </a:r>
            <a:endParaRPr sz="2000">
              <a:latin typeface="Times New Roman"/>
              <a:ea typeface="Times New Roman"/>
              <a:cs typeface="Times New Roman"/>
              <a:sym typeface="Times New Roman"/>
            </a:endParaRPr>
          </a:p>
          <a:p>
            <a:pPr indent="0" lvl="0" marL="0" rtl="0" algn="l">
              <a:spcBef>
                <a:spcPts val="1200"/>
              </a:spcBef>
              <a:spcAft>
                <a:spcPts val="0"/>
              </a:spcAft>
              <a:buNone/>
            </a:pPr>
            <a:r>
              <a:rPr lang="ru" sz="2000">
                <a:latin typeface="Times New Roman"/>
                <a:ea typeface="Times New Roman"/>
                <a:cs typeface="Times New Roman"/>
                <a:sym typeface="Times New Roman"/>
              </a:rPr>
              <a:t>Выделяют компоненты структуры::</a:t>
            </a:r>
            <a:endParaRPr sz="2000">
              <a:latin typeface="Times New Roman"/>
              <a:ea typeface="Times New Roman"/>
              <a:cs typeface="Times New Roman"/>
              <a:sym typeface="Times New Roman"/>
            </a:endParaRPr>
          </a:p>
          <a:p>
            <a:pPr indent="-355600" lvl="0" marL="457200" rtl="0" algn="l">
              <a:spcBef>
                <a:spcPts val="1200"/>
              </a:spcBef>
              <a:spcAft>
                <a:spcPts val="0"/>
              </a:spcAft>
              <a:buSzPts val="2000"/>
              <a:buFont typeface="Times New Roman"/>
              <a:buAutoNum type="arabicPeriod"/>
            </a:pPr>
            <a:r>
              <a:rPr lang="ru" sz="2000">
                <a:latin typeface="Times New Roman"/>
                <a:ea typeface="Times New Roman"/>
                <a:cs typeface="Times New Roman"/>
                <a:sym typeface="Times New Roman"/>
              </a:rPr>
              <a:t>Claim</a:t>
            </a:r>
            <a:endParaRPr sz="2000">
              <a:latin typeface="Times New Roman"/>
              <a:ea typeface="Times New Roman"/>
              <a:cs typeface="Times New Roman"/>
              <a:sym typeface="Times New Roman"/>
            </a:endParaRPr>
          </a:p>
          <a:p>
            <a:pPr indent="-355600" lvl="0" marL="457200" rtl="0" algn="l">
              <a:spcBef>
                <a:spcPts val="0"/>
              </a:spcBef>
              <a:spcAft>
                <a:spcPts val="0"/>
              </a:spcAft>
              <a:buSzPts val="2000"/>
              <a:buFont typeface="Times New Roman"/>
              <a:buAutoNum type="arabicPeriod"/>
            </a:pPr>
            <a:r>
              <a:rPr lang="ru" sz="2000">
                <a:latin typeface="Times New Roman"/>
                <a:ea typeface="Times New Roman"/>
                <a:cs typeface="Times New Roman"/>
                <a:sym typeface="Times New Roman"/>
              </a:rPr>
              <a:t>Premise                                    </a:t>
            </a:r>
            <a:endParaRPr sz="2000">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ru" sz="2000">
                <a:latin typeface="Times New Roman"/>
                <a:ea typeface="Times New Roman"/>
                <a:cs typeface="Times New Roman"/>
                <a:sym typeface="Times New Roman"/>
              </a:rPr>
              <a:t>И направленные связи между компонентами::</a:t>
            </a:r>
            <a:endParaRPr sz="2000">
              <a:latin typeface="Times New Roman"/>
              <a:ea typeface="Times New Roman"/>
              <a:cs typeface="Times New Roman"/>
              <a:sym typeface="Times New Roman"/>
            </a:endParaRPr>
          </a:p>
          <a:p>
            <a:pPr indent="-355600" lvl="0" marL="457200" rtl="0" algn="l">
              <a:spcBef>
                <a:spcPts val="1200"/>
              </a:spcBef>
              <a:spcAft>
                <a:spcPts val="0"/>
              </a:spcAft>
              <a:buSzPts val="2000"/>
              <a:buFont typeface="Times New Roman"/>
              <a:buAutoNum type="arabicPeriod"/>
            </a:pPr>
            <a:r>
              <a:rPr lang="ru" sz="2000">
                <a:latin typeface="Times New Roman"/>
                <a:ea typeface="Times New Roman"/>
                <a:cs typeface="Times New Roman"/>
                <a:sym typeface="Times New Roman"/>
              </a:rPr>
              <a:t>Support</a:t>
            </a:r>
            <a:endParaRPr sz="2000">
              <a:latin typeface="Times New Roman"/>
              <a:ea typeface="Times New Roman"/>
              <a:cs typeface="Times New Roman"/>
              <a:sym typeface="Times New Roman"/>
            </a:endParaRPr>
          </a:p>
          <a:p>
            <a:pPr indent="-355600" lvl="0" marL="457200" rtl="0" algn="l">
              <a:spcBef>
                <a:spcPts val="0"/>
              </a:spcBef>
              <a:spcAft>
                <a:spcPts val="0"/>
              </a:spcAft>
              <a:buSzPts val="2000"/>
              <a:buFont typeface="Times New Roman"/>
              <a:buAutoNum type="arabicPeriod"/>
            </a:pPr>
            <a:r>
              <a:rPr lang="ru" sz="2000">
                <a:latin typeface="Times New Roman"/>
                <a:ea typeface="Times New Roman"/>
                <a:cs typeface="Times New Roman"/>
                <a:sym typeface="Times New Roman"/>
              </a:rPr>
              <a:t>Attack</a:t>
            </a:r>
            <a:endParaRPr sz="2000">
              <a:latin typeface="Times New Roman"/>
              <a:ea typeface="Times New Roman"/>
              <a:cs typeface="Times New Roman"/>
              <a:sym typeface="Times New Roman"/>
            </a:endParaRPr>
          </a:p>
          <a:p>
            <a:pPr indent="0" lvl="0" marL="0" rtl="0" algn="l">
              <a:spcBef>
                <a:spcPts val="1200"/>
              </a:spcBef>
              <a:spcAft>
                <a:spcPts val="1200"/>
              </a:spcAft>
              <a:buNone/>
            </a:pPr>
            <a:r>
              <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315925"/>
            <a:ext cx="8520600" cy="12921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ru" sz="3400">
                <a:latin typeface="Times New Roman"/>
                <a:ea typeface="Times New Roman"/>
                <a:cs typeface="Times New Roman"/>
                <a:sym typeface="Times New Roman"/>
              </a:rPr>
              <a:t>Существующие подходы к решению: </a:t>
            </a:r>
            <a:r>
              <a:rPr lang="ru" sz="3067">
                <a:latin typeface="Courier New"/>
                <a:ea typeface="Courier New"/>
                <a:cs typeface="Courier New"/>
                <a:sym typeface="Courier New"/>
              </a:rPr>
              <a:t>Knowledge-Enhanced Argument Relation Classification</a:t>
            </a:r>
            <a:r>
              <a:rPr lang="ru" sz="3067">
                <a:latin typeface="Courier New"/>
                <a:ea typeface="Courier New"/>
                <a:cs typeface="Courier New"/>
                <a:sym typeface="Courier New"/>
              </a:rPr>
              <a:t> </a:t>
            </a:r>
            <a:endParaRPr sz="3067">
              <a:latin typeface="Courier New"/>
              <a:ea typeface="Courier New"/>
              <a:cs typeface="Courier New"/>
              <a:sym typeface="Courier New"/>
            </a:endParaRPr>
          </a:p>
        </p:txBody>
      </p:sp>
      <p:sp>
        <p:nvSpPr>
          <p:cNvPr id="75" name="Google Shape;75;p15"/>
          <p:cNvSpPr txBox="1"/>
          <p:nvPr>
            <p:ph idx="1" type="body"/>
          </p:nvPr>
        </p:nvSpPr>
        <p:spPr>
          <a:xfrm>
            <a:off x="311700" y="1782300"/>
            <a:ext cx="8520600" cy="3109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Clr>
                <a:schemeClr val="dk1"/>
              </a:buClr>
              <a:buSzPct val="55000"/>
              <a:buFont typeface="Arial"/>
              <a:buNone/>
            </a:pPr>
            <a:r>
              <a:rPr i="1" lang="ru" sz="2000">
                <a:latin typeface="Times New Roman"/>
                <a:ea typeface="Times New Roman"/>
                <a:cs typeface="Times New Roman"/>
                <a:sym typeface="Times New Roman"/>
              </a:rPr>
              <a:t>Задача</a:t>
            </a:r>
            <a:r>
              <a:rPr lang="ru" sz="2000">
                <a:latin typeface="Times New Roman"/>
                <a:ea typeface="Times New Roman"/>
                <a:cs typeface="Times New Roman"/>
                <a:sym typeface="Times New Roman"/>
              </a:rPr>
              <a:t> - Argumentative Relation Classification</a:t>
            </a:r>
            <a:endParaRPr sz="2000">
              <a:latin typeface="Times New Roman"/>
              <a:ea typeface="Times New Roman"/>
              <a:cs typeface="Times New Roman"/>
              <a:sym typeface="Times New Roman"/>
            </a:endParaRPr>
          </a:p>
          <a:p>
            <a:pPr indent="0" lvl="0" marL="0" rtl="0" algn="l">
              <a:spcBef>
                <a:spcPts val="1200"/>
              </a:spcBef>
              <a:spcAft>
                <a:spcPts val="0"/>
              </a:spcAft>
              <a:buClr>
                <a:schemeClr val="dk1"/>
              </a:buClr>
              <a:buSzPct val="55000"/>
              <a:buFont typeface="Arial"/>
              <a:buNone/>
            </a:pPr>
            <a:r>
              <a:rPr lang="ru" sz="2000">
                <a:latin typeface="Times New Roman"/>
                <a:ea typeface="Times New Roman"/>
                <a:cs typeface="Times New Roman"/>
                <a:sym typeface="Times New Roman"/>
              </a:rPr>
              <a:t>Определить тип связи между двумя аргументами:</a:t>
            </a:r>
            <a:endParaRPr sz="2000">
              <a:latin typeface="Times New Roman"/>
              <a:ea typeface="Times New Roman"/>
              <a:cs typeface="Times New Roman"/>
              <a:sym typeface="Times New Roman"/>
            </a:endParaRPr>
          </a:p>
          <a:p>
            <a:pPr indent="-336550" lvl="0" marL="457200" rtl="0" algn="l">
              <a:spcBef>
                <a:spcPts val="1200"/>
              </a:spcBef>
              <a:spcAft>
                <a:spcPts val="0"/>
              </a:spcAft>
              <a:buSzPct val="100000"/>
              <a:buFont typeface="Times New Roman"/>
              <a:buChar char="●"/>
            </a:pPr>
            <a:r>
              <a:rPr lang="ru" sz="2000">
                <a:latin typeface="Times New Roman"/>
                <a:ea typeface="Times New Roman"/>
                <a:cs typeface="Times New Roman"/>
                <a:sym typeface="Times New Roman"/>
              </a:rPr>
              <a:t>Support</a:t>
            </a:r>
            <a:endParaRPr sz="2000">
              <a:latin typeface="Times New Roman"/>
              <a:ea typeface="Times New Roman"/>
              <a:cs typeface="Times New Roman"/>
              <a:sym typeface="Times New Roman"/>
            </a:endParaRPr>
          </a:p>
          <a:p>
            <a:pPr indent="-336550" lvl="0" marL="457200" rtl="0" algn="l">
              <a:spcBef>
                <a:spcPts val="0"/>
              </a:spcBef>
              <a:spcAft>
                <a:spcPts val="0"/>
              </a:spcAft>
              <a:buSzPct val="100000"/>
              <a:buFont typeface="Times New Roman"/>
              <a:buChar char="●"/>
            </a:pPr>
            <a:r>
              <a:rPr lang="ru" sz="2000">
                <a:latin typeface="Times New Roman"/>
                <a:ea typeface="Times New Roman"/>
                <a:cs typeface="Times New Roman"/>
                <a:sym typeface="Times New Roman"/>
              </a:rPr>
              <a:t> Attack</a:t>
            </a:r>
            <a:endParaRPr sz="2000">
              <a:latin typeface="Times New Roman"/>
              <a:ea typeface="Times New Roman"/>
              <a:cs typeface="Times New Roman"/>
              <a:sym typeface="Times New Roman"/>
            </a:endParaRPr>
          </a:p>
          <a:p>
            <a:pPr indent="0" lvl="0" marL="0" rtl="0" algn="l">
              <a:spcBef>
                <a:spcPts val="1200"/>
              </a:spcBef>
              <a:spcAft>
                <a:spcPts val="0"/>
              </a:spcAft>
              <a:buClr>
                <a:schemeClr val="dk1"/>
              </a:buClr>
              <a:buSzPct val="55000"/>
              <a:buFont typeface="Arial"/>
              <a:buNone/>
            </a:pPr>
            <a:r>
              <a:rPr i="1" lang="ru" sz="2000">
                <a:latin typeface="Times New Roman"/>
                <a:ea typeface="Times New Roman"/>
                <a:cs typeface="Times New Roman"/>
                <a:sym typeface="Times New Roman"/>
              </a:rPr>
              <a:t>Особенности подхода:</a:t>
            </a:r>
            <a:endParaRPr i="1" sz="2000">
              <a:latin typeface="Times New Roman"/>
              <a:ea typeface="Times New Roman"/>
              <a:cs typeface="Times New Roman"/>
              <a:sym typeface="Times New Roman"/>
            </a:endParaRPr>
          </a:p>
          <a:p>
            <a:pPr indent="-336550" lvl="0" marL="457200" rtl="0" algn="l">
              <a:spcBef>
                <a:spcPts val="1200"/>
              </a:spcBef>
              <a:spcAft>
                <a:spcPts val="0"/>
              </a:spcAft>
              <a:buSzPct val="100000"/>
              <a:buFont typeface="Times New Roman"/>
              <a:buChar char="●"/>
            </a:pPr>
            <a:r>
              <a:rPr lang="ru" sz="2000">
                <a:latin typeface="Times New Roman"/>
                <a:ea typeface="Times New Roman"/>
                <a:cs typeface="Times New Roman"/>
                <a:sym typeface="Times New Roman"/>
              </a:rPr>
              <a:t>Не используется контекст</a:t>
            </a:r>
            <a:endParaRPr sz="2000">
              <a:latin typeface="Times New Roman"/>
              <a:ea typeface="Times New Roman"/>
              <a:cs typeface="Times New Roman"/>
              <a:sym typeface="Times New Roman"/>
            </a:endParaRPr>
          </a:p>
          <a:p>
            <a:pPr indent="-336550" lvl="0" marL="457200" rtl="0" algn="l">
              <a:spcBef>
                <a:spcPts val="0"/>
              </a:spcBef>
              <a:spcAft>
                <a:spcPts val="0"/>
              </a:spcAft>
              <a:buSzPct val="100000"/>
              <a:buFont typeface="Times New Roman"/>
              <a:buChar char="●"/>
            </a:pPr>
            <a:r>
              <a:rPr lang="ru" sz="2000">
                <a:latin typeface="Times New Roman"/>
                <a:ea typeface="Times New Roman"/>
                <a:cs typeface="Times New Roman"/>
                <a:sym typeface="Times New Roman"/>
              </a:rPr>
              <a:t>Нет позиционных признаков</a:t>
            </a:r>
            <a:endParaRPr sz="2000">
              <a:latin typeface="Times New Roman"/>
              <a:ea typeface="Times New Roman"/>
              <a:cs typeface="Times New Roman"/>
              <a:sym typeface="Times New Roman"/>
            </a:endParaRPr>
          </a:p>
          <a:p>
            <a:pPr indent="-336550" lvl="0" marL="457200" rtl="0" algn="l">
              <a:spcBef>
                <a:spcPts val="0"/>
              </a:spcBef>
              <a:spcAft>
                <a:spcPts val="0"/>
              </a:spcAft>
              <a:buSzPct val="100000"/>
              <a:buFont typeface="Times New Roman"/>
              <a:buChar char="●"/>
            </a:pPr>
            <a:r>
              <a:rPr lang="ru" sz="2000">
                <a:latin typeface="Times New Roman"/>
                <a:ea typeface="Times New Roman"/>
                <a:cs typeface="Times New Roman"/>
                <a:sym typeface="Times New Roman"/>
              </a:rPr>
              <a:t>Фокус только на содержании аргументов</a:t>
            </a:r>
            <a:endParaRPr sz="2000">
              <a:latin typeface="Times New Roman"/>
              <a:ea typeface="Times New Roman"/>
              <a:cs typeface="Times New Roman"/>
              <a:sym typeface="Times New Roman"/>
            </a:endParaRPr>
          </a:p>
          <a:p>
            <a:pPr indent="-336550" lvl="0" marL="457200" rtl="0" algn="l">
              <a:spcBef>
                <a:spcPts val="0"/>
              </a:spcBef>
              <a:spcAft>
                <a:spcPts val="0"/>
              </a:spcAft>
              <a:buSzPct val="100000"/>
              <a:buFont typeface="Times New Roman"/>
              <a:buChar char="●"/>
            </a:pPr>
            <a:r>
              <a:rPr lang="ru" sz="2000">
                <a:latin typeface="Times New Roman"/>
                <a:ea typeface="Times New Roman"/>
                <a:cs typeface="Times New Roman"/>
                <a:sym typeface="Times New Roman"/>
              </a:rPr>
              <a:t>Добавляется внешнее фоновое знание</a:t>
            </a:r>
            <a:endParaRPr sz="20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ru" sz="2680">
                <a:latin typeface="Courier New"/>
                <a:ea typeface="Courier New"/>
                <a:cs typeface="Courier New"/>
                <a:sym typeface="Courier New"/>
              </a:rPr>
              <a:t>Knowledge-Enhanced Argument Relation Classification</a:t>
            </a:r>
            <a:endParaRPr sz="2680">
              <a:latin typeface="Courier New"/>
              <a:ea typeface="Courier New"/>
              <a:cs typeface="Courier New"/>
              <a:sym typeface="Courier New"/>
            </a:endParaRPr>
          </a:p>
        </p:txBody>
      </p:sp>
      <p:sp>
        <p:nvSpPr>
          <p:cNvPr id="81" name="Google Shape;81;p16"/>
          <p:cNvSpPr txBox="1"/>
          <p:nvPr>
            <p:ph idx="1" type="body"/>
          </p:nvPr>
        </p:nvSpPr>
        <p:spPr>
          <a:xfrm>
            <a:off x="311700" y="1225225"/>
            <a:ext cx="8520600" cy="36228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Clr>
                <a:schemeClr val="dk1"/>
              </a:buClr>
              <a:buSzPct val="55000"/>
              <a:buFont typeface="Arial"/>
              <a:buNone/>
            </a:pPr>
            <a:r>
              <a:rPr b="1" lang="ru" sz="2000">
                <a:latin typeface="Times New Roman"/>
                <a:ea typeface="Times New Roman"/>
                <a:cs typeface="Times New Roman"/>
                <a:sym typeface="Times New Roman"/>
              </a:rPr>
              <a:t>Архитектура метода</a:t>
            </a:r>
            <a:endParaRPr b="1" sz="2000">
              <a:latin typeface="Times New Roman"/>
              <a:ea typeface="Times New Roman"/>
              <a:cs typeface="Times New Roman"/>
              <a:sym typeface="Times New Roman"/>
            </a:endParaRPr>
          </a:p>
          <a:p>
            <a:pPr indent="0" lvl="0" marL="0" rtl="0" algn="l">
              <a:spcBef>
                <a:spcPts val="1200"/>
              </a:spcBef>
              <a:spcAft>
                <a:spcPts val="0"/>
              </a:spcAft>
              <a:buClr>
                <a:schemeClr val="dk1"/>
              </a:buClr>
              <a:buSzPct val="55000"/>
              <a:buFont typeface="Arial"/>
              <a:buNone/>
            </a:pPr>
            <a:r>
              <a:rPr i="1" lang="ru" sz="2000">
                <a:latin typeface="Times New Roman"/>
                <a:ea typeface="Times New Roman"/>
                <a:cs typeface="Times New Roman"/>
                <a:sym typeface="Times New Roman"/>
              </a:rPr>
              <a:t>1. Базовая модель — Siamese BiLSTM</a:t>
            </a:r>
            <a:endParaRPr i="1" sz="2000">
              <a:latin typeface="Times New Roman"/>
              <a:ea typeface="Times New Roman"/>
              <a:cs typeface="Times New Roman"/>
              <a:sym typeface="Times New Roman"/>
            </a:endParaRPr>
          </a:p>
          <a:p>
            <a:pPr indent="0" lvl="0" marL="0" rtl="0" algn="l">
              <a:spcBef>
                <a:spcPts val="1200"/>
              </a:spcBef>
              <a:spcAft>
                <a:spcPts val="0"/>
              </a:spcAft>
              <a:buClr>
                <a:schemeClr val="dk1"/>
              </a:buClr>
              <a:buSzPct val="55000"/>
              <a:buFont typeface="Arial"/>
              <a:buNone/>
            </a:pPr>
            <a:r>
              <a:rPr lang="ru" sz="2000">
                <a:latin typeface="Times New Roman"/>
                <a:ea typeface="Times New Roman"/>
                <a:cs typeface="Times New Roman"/>
                <a:sym typeface="Times New Roman"/>
              </a:rPr>
              <a:t>• Аргументы A и B кодируются отдельно</a:t>
            </a:r>
            <a:endParaRPr sz="2000">
              <a:latin typeface="Times New Roman"/>
              <a:ea typeface="Times New Roman"/>
              <a:cs typeface="Times New Roman"/>
              <a:sym typeface="Times New Roman"/>
            </a:endParaRPr>
          </a:p>
          <a:p>
            <a:pPr indent="0" lvl="0" marL="0" rtl="0" algn="l">
              <a:spcBef>
                <a:spcPts val="1200"/>
              </a:spcBef>
              <a:spcAft>
                <a:spcPts val="0"/>
              </a:spcAft>
              <a:buClr>
                <a:schemeClr val="dk1"/>
              </a:buClr>
              <a:buSzPct val="55000"/>
              <a:buFont typeface="Arial"/>
              <a:buNone/>
            </a:pPr>
            <a:r>
              <a:rPr lang="ru" sz="2000">
                <a:latin typeface="Times New Roman"/>
                <a:ea typeface="Times New Roman"/>
                <a:cs typeface="Times New Roman"/>
                <a:sym typeface="Times New Roman"/>
              </a:rPr>
              <a:t>• Использование Glove embendings</a:t>
            </a:r>
            <a:endParaRPr sz="2000">
              <a:latin typeface="Times New Roman"/>
              <a:ea typeface="Times New Roman"/>
              <a:cs typeface="Times New Roman"/>
              <a:sym typeface="Times New Roman"/>
            </a:endParaRPr>
          </a:p>
          <a:p>
            <a:pPr indent="0" lvl="0" marL="0" rtl="0" algn="l">
              <a:spcBef>
                <a:spcPts val="1200"/>
              </a:spcBef>
              <a:spcAft>
                <a:spcPts val="0"/>
              </a:spcAft>
              <a:buClr>
                <a:schemeClr val="dk1"/>
              </a:buClr>
              <a:buSzPct val="55000"/>
              <a:buFont typeface="Arial"/>
              <a:buNone/>
            </a:pPr>
            <a:r>
              <a:rPr lang="ru" sz="2000">
                <a:latin typeface="Times New Roman"/>
                <a:ea typeface="Times New Roman"/>
                <a:cs typeface="Times New Roman"/>
                <a:sym typeface="Times New Roman"/>
              </a:rPr>
              <a:t>• Получаем emb(A) и emb(B)</a:t>
            </a:r>
            <a:endParaRPr sz="2000">
              <a:latin typeface="Times New Roman"/>
              <a:ea typeface="Times New Roman"/>
              <a:cs typeface="Times New Roman"/>
              <a:sym typeface="Times New Roman"/>
            </a:endParaRPr>
          </a:p>
          <a:p>
            <a:pPr indent="0" lvl="0" marL="0" rtl="0" algn="l">
              <a:spcBef>
                <a:spcPts val="1200"/>
              </a:spcBef>
              <a:spcAft>
                <a:spcPts val="0"/>
              </a:spcAft>
              <a:buClr>
                <a:schemeClr val="dk1"/>
              </a:buClr>
              <a:buSzPct val="55000"/>
              <a:buFont typeface="Arial"/>
              <a:buNone/>
            </a:pPr>
            <a:r>
              <a:t/>
            </a:r>
            <a:endParaRPr sz="2000">
              <a:latin typeface="Times New Roman"/>
              <a:ea typeface="Times New Roman"/>
              <a:cs typeface="Times New Roman"/>
              <a:sym typeface="Times New Roman"/>
            </a:endParaRPr>
          </a:p>
          <a:p>
            <a:pPr indent="0" lvl="0" marL="0" rtl="0" algn="l">
              <a:spcBef>
                <a:spcPts val="1200"/>
              </a:spcBef>
              <a:spcAft>
                <a:spcPts val="0"/>
              </a:spcAft>
              <a:buClr>
                <a:schemeClr val="dk1"/>
              </a:buClr>
              <a:buSzPct val="55000"/>
              <a:buFont typeface="Arial"/>
              <a:buNone/>
            </a:pPr>
            <a:r>
              <a:rPr i="1" lang="ru" sz="2000">
                <a:latin typeface="Times New Roman"/>
                <a:ea typeface="Times New Roman"/>
                <a:cs typeface="Times New Roman"/>
                <a:sym typeface="Times New Roman"/>
              </a:rPr>
              <a:t>2. Представление отношения</a:t>
            </a:r>
            <a:endParaRPr i="1" sz="2000">
              <a:latin typeface="Times New Roman"/>
              <a:ea typeface="Times New Roman"/>
              <a:cs typeface="Times New Roman"/>
              <a:sym typeface="Times New Roman"/>
            </a:endParaRPr>
          </a:p>
          <a:p>
            <a:pPr indent="0" lvl="0" marL="0" rtl="0" algn="l">
              <a:spcBef>
                <a:spcPts val="1200"/>
              </a:spcBef>
              <a:spcAft>
                <a:spcPts val="0"/>
              </a:spcAft>
              <a:buClr>
                <a:schemeClr val="dk1"/>
              </a:buClr>
              <a:buSzPct val="55000"/>
              <a:buFont typeface="Arial"/>
              <a:buNone/>
            </a:pPr>
            <a:r>
              <a:rPr lang="ru" sz="2000">
                <a:latin typeface="Times New Roman"/>
                <a:ea typeface="Times New Roman"/>
                <a:cs typeface="Times New Roman"/>
                <a:sym typeface="Times New Roman"/>
              </a:rPr>
              <a:t>r(A,B) = emb(B) − emb(A)</a:t>
            </a:r>
            <a:endParaRPr sz="2000">
              <a:latin typeface="Times New Roman"/>
              <a:ea typeface="Times New Roman"/>
              <a:cs typeface="Times New Roman"/>
              <a:sym typeface="Times New Roman"/>
            </a:endParaRPr>
          </a:p>
          <a:p>
            <a:pPr indent="0" lvl="0" marL="0" rtl="0" algn="l">
              <a:spcBef>
                <a:spcPts val="1200"/>
              </a:spcBef>
              <a:spcAft>
                <a:spcPts val="1200"/>
              </a:spcAft>
              <a:buNone/>
            </a:pPr>
            <a:r>
              <a:rPr lang="ru" sz="2000">
                <a:latin typeface="Times New Roman"/>
                <a:ea typeface="Times New Roman"/>
                <a:cs typeface="Times New Roman"/>
                <a:sym typeface="Times New Roman"/>
              </a:rPr>
              <a:t>Связь моделируется как векторный сдвиг в пространстве аргументов.</a:t>
            </a:r>
            <a:endParaRPr>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ru" sz="2680">
                <a:latin typeface="Courier New"/>
                <a:ea typeface="Courier New"/>
                <a:cs typeface="Courier New"/>
                <a:sym typeface="Courier New"/>
              </a:rPr>
              <a:t>Knowledge-Enhanced Argument Relation Classification</a:t>
            </a:r>
            <a:endParaRPr sz="2680">
              <a:latin typeface="Courier New"/>
              <a:ea typeface="Courier New"/>
              <a:cs typeface="Courier New"/>
              <a:sym typeface="Courier New"/>
            </a:endParaRPr>
          </a:p>
        </p:txBody>
      </p:sp>
      <p:sp>
        <p:nvSpPr>
          <p:cNvPr id="87" name="Google Shape;87;p17"/>
          <p:cNvSpPr txBox="1"/>
          <p:nvPr>
            <p:ph idx="1" type="body"/>
          </p:nvPr>
        </p:nvSpPr>
        <p:spPr>
          <a:xfrm>
            <a:off x="311700" y="1225225"/>
            <a:ext cx="8520600" cy="3608400"/>
          </a:xfrm>
          <a:prstGeom prst="rect">
            <a:avLst/>
          </a:prstGeom>
        </p:spPr>
        <p:txBody>
          <a:bodyPr anchorCtr="0" anchor="t" bIns="91425" lIns="91425" spcFirstLastPara="1" rIns="91425" wrap="square" tIns="91425">
            <a:normAutofit fontScale="77500" lnSpcReduction="20000"/>
          </a:bodyPr>
          <a:lstStyle/>
          <a:p>
            <a:pPr indent="0" lvl="0" marL="0" rtl="0" algn="ctr">
              <a:spcBef>
                <a:spcPts val="0"/>
              </a:spcBef>
              <a:spcAft>
                <a:spcPts val="0"/>
              </a:spcAft>
              <a:buClr>
                <a:schemeClr val="dk1"/>
              </a:buClr>
              <a:buSzPct val="55000"/>
              <a:buFont typeface="Arial"/>
              <a:buNone/>
            </a:pPr>
            <a:r>
              <a:rPr b="1" lang="ru" sz="2000">
                <a:latin typeface="Times New Roman"/>
                <a:ea typeface="Times New Roman"/>
                <a:cs typeface="Times New Roman"/>
                <a:sym typeface="Times New Roman"/>
              </a:rPr>
              <a:t>Архитектура метода</a:t>
            </a:r>
            <a:endParaRPr b="1" sz="2000">
              <a:latin typeface="Times New Roman"/>
              <a:ea typeface="Times New Roman"/>
              <a:cs typeface="Times New Roman"/>
              <a:sym typeface="Times New Roman"/>
            </a:endParaRPr>
          </a:p>
          <a:p>
            <a:pPr indent="0" lvl="0" marL="0" rtl="0" algn="l">
              <a:spcBef>
                <a:spcPts val="1200"/>
              </a:spcBef>
              <a:spcAft>
                <a:spcPts val="0"/>
              </a:spcAft>
              <a:buClr>
                <a:schemeClr val="dk1"/>
              </a:buClr>
              <a:buSzPct val="55000"/>
              <a:buFont typeface="Arial"/>
              <a:buNone/>
            </a:pPr>
            <a:r>
              <a:rPr i="1" lang="ru" sz="2000">
                <a:latin typeface="Times New Roman"/>
                <a:ea typeface="Times New Roman"/>
                <a:cs typeface="Times New Roman"/>
                <a:sym typeface="Times New Roman"/>
              </a:rPr>
              <a:t>3. Добавление знаний</a:t>
            </a:r>
            <a:endParaRPr i="1" sz="2000">
              <a:latin typeface="Times New Roman"/>
              <a:ea typeface="Times New Roman"/>
              <a:cs typeface="Times New Roman"/>
              <a:sym typeface="Times New Roman"/>
            </a:endParaRPr>
          </a:p>
          <a:p>
            <a:pPr indent="-327025" lvl="0" marL="457200" rtl="0" algn="l">
              <a:spcBef>
                <a:spcPts val="1200"/>
              </a:spcBef>
              <a:spcAft>
                <a:spcPts val="0"/>
              </a:spcAft>
              <a:buSzPct val="100000"/>
              <a:buFont typeface="Times New Roman"/>
              <a:buChar char="●"/>
            </a:pPr>
            <a:r>
              <a:rPr lang="ru" sz="2000">
                <a:latin typeface="Times New Roman"/>
                <a:ea typeface="Times New Roman"/>
                <a:cs typeface="Times New Roman"/>
                <a:sym typeface="Times New Roman"/>
              </a:rPr>
              <a:t>Используются графы знаний:</a:t>
            </a:r>
            <a:endParaRPr sz="2000">
              <a:latin typeface="Times New Roman"/>
              <a:ea typeface="Times New Roman"/>
              <a:cs typeface="Times New Roman"/>
              <a:sym typeface="Times New Roman"/>
            </a:endParaRPr>
          </a:p>
          <a:p>
            <a:pPr indent="-327025" lvl="0" marL="457200" rtl="0" algn="l">
              <a:spcBef>
                <a:spcPts val="0"/>
              </a:spcBef>
              <a:spcAft>
                <a:spcPts val="0"/>
              </a:spcAft>
              <a:buSzPct val="100000"/>
              <a:buFont typeface="Times New Roman"/>
              <a:buChar char="●"/>
            </a:pPr>
            <a:r>
              <a:rPr lang="ru" sz="2000">
                <a:latin typeface="Times New Roman"/>
                <a:ea typeface="Times New Roman"/>
                <a:cs typeface="Times New Roman"/>
                <a:sym typeface="Times New Roman"/>
              </a:rPr>
              <a:t>ConceptNet — commonsense knowledge</a:t>
            </a:r>
            <a:endParaRPr sz="2000">
              <a:latin typeface="Times New Roman"/>
              <a:ea typeface="Times New Roman"/>
              <a:cs typeface="Times New Roman"/>
              <a:sym typeface="Times New Roman"/>
            </a:endParaRPr>
          </a:p>
          <a:p>
            <a:pPr indent="-327025" lvl="0" marL="457200" rtl="0" algn="l">
              <a:spcBef>
                <a:spcPts val="0"/>
              </a:spcBef>
              <a:spcAft>
                <a:spcPts val="0"/>
              </a:spcAft>
              <a:buSzPct val="100000"/>
              <a:buFont typeface="Times New Roman"/>
              <a:buChar char="●"/>
            </a:pPr>
            <a:r>
              <a:rPr lang="ru" sz="2000">
                <a:latin typeface="Times New Roman"/>
                <a:ea typeface="Times New Roman"/>
                <a:cs typeface="Times New Roman"/>
                <a:sym typeface="Times New Roman"/>
              </a:rPr>
              <a:t>DBpedia — энциклопедические знания</a:t>
            </a:r>
            <a:endParaRPr sz="2000">
              <a:latin typeface="Times New Roman"/>
              <a:ea typeface="Times New Roman"/>
              <a:cs typeface="Times New Roman"/>
              <a:sym typeface="Times New Roman"/>
            </a:endParaRPr>
          </a:p>
          <a:p>
            <a:pPr indent="0" lvl="0" marL="457200" rtl="0" algn="l">
              <a:spcBef>
                <a:spcPts val="1200"/>
              </a:spcBef>
              <a:spcAft>
                <a:spcPts val="0"/>
              </a:spcAft>
              <a:buNone/>
            </a:pPr>
            <a:r>
              <a:t/>
            </a:r>
            <a:endParaRPr sz="2000">
              <a:latin typeface="Times New Roman"/>
              <a:ea typeface="Times New Roman"/>
              <a:cs typeface="Times New Roman"/>
              <a:sym typeface="Times New Roman"/>
            </a:endParaRPr>
          </a:p>
          <a:p>
            <a:pPr indent="0" lvl="0" marL="457200" rtl="0" algn="l">
              <a:spcBef>
                <a:spcPts val="1200"/>
              </a:spcBef>
              <a:spcAft>
                <a:spcPts val="0"/>
              </a:spcAft>
              <a:buNone/>
            </a:pPr>
            <a:r>
              <a:rPr lang="ru" sz="2000">
                <a:latin typeface="Times New Roman"/>
                <a:ea typeface="Times New Roman"/>
                <a:cs typeface="Times New Roman"/>
                <a:sym typeface="Times New Roman"/>
              </a:rPr>
              <a:t>Извлекаются:</a:t>
            </a:r>
            <a:endParaRPr sz="2000">
              <a:latin typeface="Times New Roman"/>
              <a:ea typeface="Times New Roman"/>
              <a:cs typeface="Times New Roman"/>
              <a:sym typeface="Times New Roman"/>
            </a:endParaRPr>
          </a:p>
          <a:p>
            <a:pPr indent="-327025" lvl="0" marL="457200" rtl="0" algn="l">
              <a:spcBef>
                <a:spcPts val="1200"/>
              </a:spcBef>
              <a:spcAft>
                <a:spcPts val="0"/>
              </a:spcAft>
              <a:buSzPct val="100000"/>
              <a:buFont typeface="Times New Roman"/>
              <a:buChar char="●"/>
            </a:pPr>
            <a:r>
              <a:rPr lang="ru" sz="2000">
                <a:latin typeface="Times New Roman"/>
                <a:ea typeface="Times New Roman"/>
                <a:cs typeface="Times New Roman"/>
                <a:sym typeface="Times New Roman"/>
              </a:rPr>
              <a:t>типы отношений (Antonym, RelatedTo и др.)</a:t>
            </a:r>
            <a:endParaRPr sz="2000">
              <a:latin typeface="Times New Roman"/>
              <a:ea typeface="Times New Roman"/>
              <a:cs typeface="Times New Roman"/>
              <a:sym typeface="Times New Roman"/>
            </a:endParaRPr>
          </a:p>
          <a:p>
            <a:pPr indent="-327025" lvl="0" marL="457200" rtl="0" algn="l">
              <a:spcBef>
                <a:spcPts val="0"/>
              </a:spcBef>
              <a:spcAft>
                <a:spcPts val="0"/>
              </a:spcAft>
              <a:buSzPct val="100000"/>
              <a:buFont typeface="Times New Roman"/>
              <a:buChar char="●"/>
            </a:pPr>
            <a:r>
              <a:rPr lang="ru" sz="2000">
                <a:latin typeface="Times New Roman"/>
                <a:ea typeface="Times New Roman"/>
                <a:cs typeface="Times New Roman"/>
                <a:sym typeface="Times New Roman"/>
              </a:rPr>
              <a:t>паттерны путей</a:t>
            </a:r>
            <a:endParaRPr sz="2000">
              <a:latin typeface="Times New Roman"/>
              <a:ea typeface="Times New Roman"/>
              <a:cs typeface="Times New Roman"/>
              <a:sym typeface="Times New Roman"/>
            </a:endParaRPr>
          </a:p>
          <a:p>
            <a:pPr indent="-327025" lvl="0" marL="457200" rtl="0" algn="l">
              <a:spcBef>
                <a:spcPts val="0"/>
              </a:spcBef>
              <a:spcAft>
                <a:spcPts val="0"/>
              </a:spcAft>
              <a:buSzPct val="100000"/>
              <a:buFont typeface="Times New Roman"/>
              <a:buChar char="●"/>
            </a:pPr>
            <a:r>
              <a:rPr lang="ru" sz="2000">
                <a:latin typeface="Times New Roman"/>
                <a:ea typeface="Times New Roman"/>
                <a:cs typeface="Times New Roman"/>
                <a:sym typeface="Times New Roman"/>
              </a:rPr>
              <a:t>графовые статистики</a:t>
            </a:r>
            <a:endParaRPr sz="2000">
              <a:latin typeface="Times New Roman"/>
              <a:ea typeface="Times New Roman"/>
              <a:cs typeface="Times New Roman"/>
              <a:sym typeface="Times New Roman"/>
            </a:endParaRPr>
          </a:p>
          <a:p>
            <a:pPr indent="0" lvl="0" marL="0" rtl="0" algn="l">
              <a:spcBef>
                <a:spcPts val="1200"/>
              </a:spcBef>
              <a:spcAft>
                <a:spcPts val="1200"/>
              </a:spcAft>
              <a:buNone/>
            </a:pPr>
            <a:r>
              <a:rPr lang="ru" sz="2000">
                <a:latin typeface="Times New Roman"/>
                <a:ea typeface="Times New Roman"/>
                <a:cs typeface="Times New Roman"/>
                <a:sym typeface="Times New Roman"/>
              </a:rPr>
              <a:t>После объединения признаков — классификация (Softmax).</a:t>
            </a:r>
            <a:endParaRPr>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ru" sz="2680">
                <a:latin typeface="Courier New"/>
                <a:ea typeface="Courier New"/>
                <a:cs typeface="Courier New"/>
                <a:sym typeface="Courier New"/>
              </a:rPr>
              <a:t>Knowledge-Enhanced Argument Relation Classification</a:t>
            </a:r>
            <a:endParaRPr sz="2680">
              <a:latin typeface="Courier New"/>
              <a:ea typeface="Courier New"/>
              <a:cs typeface="Courier New"/>
              <a:sym typeface="Courier New"/>
            </a:endParaRPr>
          </a:p>
        </p:txBody>
      </p:sp>
      <p:sp>
        <p:nvSpPr>
          <p:cNvPr id="93" name="Google Shape;93;p18"/>
          <p:cNvSpPr txBox="1"/>
          <p:nvPr>
            <p:ph idx="1" type="body"/>
          </p:nvPr>
        </p:nvSpPr>
        <p:spPr>
          <a:xfrm>
            <a:off x="311700" y="1225225"/>
            <a:ext cx="8520600" cy="35793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Clr>
                <a:schemeClr val="dk1"/>
              </a:buClr>
              <a:buSzPct val="55000"/>
              <a:buFont typeface="Arial"/>
              <a:buNone/>
            </a:pPr>
            <a:r>
              <a:rPr b="1" lang="ru" sz="2000">
                <a:latin typeface="Times New Roman"/>
                <a:ea typeface="Times New Roman"/>
                <a:cs typeface="Times New Roman"/>
                <a:sym typeface="Times New Roman"/>
              </a:rPr>
              <a:t>Результаты и вклад</a:t>
            </a:r>
            <a:endParaRPr b="1" sz="2000">
              <a:latin typeface="Times New Roman"/>
              <a:ea typeface="Times New Roman"/>
              <a:cs typeface="Times New Roman"/>
              <a:sym typeface="Times New Roman"/>
            </a:endParaRPr>
          </a:p>
          <a:p>
            <a:pPr indent="-336550" lvl="0" marL="457200" rtl="0" algn="l">
              <a:spcBef>
                <a:spcPts val="1200"/>
              </a:spcBef>
              <a:spcAft>
                <a:spcPts val="0"/>
              </a:spcAft>
              <a:buSzPct val="100000"/>
              <a:buFont typeface="Times New Roman"/>
              <a:buChar char="●"/>
            </a:pPr>
            <a:r>
              <a:rPr lang="ru" sz="2000">
                <a:latin typeface="Times New Roman"/>
                <a:ea typeface="Times New Roman"/>
                <a:cs typeface="Times New Roman"/>
                <a:sym typeface="Times New Roman"/>
              </a:rPr>
              <a:t>Добавление знаний улучшает качество по сравнению с базовой нейронной моделью</a:t>
            </a:r>
            <a:endParaRPr sz="2000">
              <a:latin typeface="Times New Roman"/>
              <a:ea typeface="Times New Roman"/>
              <a:cs typeface="Times New Roman"/>
              <a:sym typeface="Times New Roman"/>
            </a:endParaRPr>
          </a:p>
          <a:p>
            <a:pPr indent="-336550" lvl="0" marL="457200" rtl="0" algn="l">
              <a:spcBef>
                <a:spcPts val="0"/>
              </a:spcBef>
              <a:spcAft>
                <a:spcPts val="0"/>
              </a:spcAft>
              <a:buSzPct val="100000"/>
              <a:buFont typeface="Times New Roman"/>
              <a:buChar char="●"/>
            </a:pPr>
            <a:r>
              <a:rPr lang="ru" sz="2000">
                <a:latin typeface="Times New Roman"/>
                <a:ea typeface="Times New Roman"/>
                <a:cs typeface="Times New Roman"/>
                <a:sym typeface="Times New Roman"/>
              </a:rPr>
              <a:t>Модель лучше работает в случаях без явных дискурсивных маркеров</a:t>
            </a:r>
            <a:endParaRPr sz="2000">
              <a:latin typeface="Times New Roman"/>
              <a:ea typeface="Times New Roman"/>
              <a:cs typeface="Times New Roman"/>
              <a:sym typeface="Times New Roman"/>
            </a:endParaRPr>
          </a:p>
          <a:p>
            <a:pPr indent="-336550" lvl="0" marL="457200" rtl="0" algn="l">
              <a:spcBef>
                <a:spcPts val="0"/>
              </a:spcBef>
              <a:spcAft>
                <a:spcPts val="0"/>
              </a:spcAft>
              <a:buSzPct val="100000"/>
              <a:buFont typeface="Times New Roman"/>
              <a:buChar char="●"/>
            </a:pPr>
            <a:r>
              <a:rPr lang="ru" sz="2000">
                <a:latin typeface="Times New Roman"/>
                <a:ea typeface="Times New Roman"/>
                <a:cs typeface="Times New Roman"/>
                <a:sym typeface="Times New Roman"/>
              </a:rPr>
              <a:t>Опора на семантическое содержание, а не только на форму</a:t>
            </a:r>
            <a:endParaRPr sz="2000">
              <a:latin typeface="Times New Roman"/>
              <a:ea typeface="Times New Roman"/>
              <a:cs typeface="Times New Roman"/>
              <a:sym typeface="Times New Roman"/>
            </a:endParaRPr>
          </a:p>
          <a:p>
            <a:pPr indent="0" lvl="0" marL="0" rtl="0" algn="l">
              <a:spcBef>
                <a:spcPts val="1200"/>
              </a:spcBef>
              <a:spcAft>
                <a:spcPts val="0"/>
              </a:spcAft>
              <a:buClr>
                <a:schemeClr val="dk1"/>
              </a:buClr>
              <a:buSzPct val="55000"/>
              <a:buFont typeface="Arial"/>
              <a:buNone/>
            </a:pPr>
            <a:r>
              <a:t/>
            </a:r>
            <a:endParaRPr sz="2000">
              <a:latin typeface="Times New Roman"/>
              <a:ea typeface="Times New Roman"/>
              <a:cs typeface="Times New Roman"/>
              <a:sym typeface="Times New Roman"/>
            </a:endParaRPr>
          </a:p>
          <a:p>
            <a:pPr indent="0" lvl="0" marL="0" rtl="0" algn="l">
              <a:spcBef>
                <a:spcPts val="1200"/>
              </a:spcBef>
              <a:spcAft>
                <a:spcPts val="0"/>
              </a:spcAft>
              <a:buClr>
                <a:schemeClr val="dk1"/>
              </a:buClr>
              <a:buSzPct val="55000"/>
              <a:buFont typeface="Arial"/>
              <a:buNone/>
            </a:pPr>
            <a:r>
              <a:rPr b="1" lang="ru" sz="2000">
                <a:latin typeface="Times New Roman"/>
                <a:ea typeface="Times New Roman"/>
                <a:cs typeface="Times New Roman"/>
                <a:sym typeface="Times New Roman"/>
              </a:rPr>
              <a:t>Главное достижение:</a:t>
            </a:r>
            <a:endParaRPr b="1" sz="2000">
              <a:latin typeface="Times New Roman"/>
              <a:ea typeface="Times New Roman"/>
              <a:cs typeface="Times New Roman"/>
              <a:sym typeface="Times New Roman"/>
            </a:endParaRPr>
          </a:p>
          <a:p>
            <a:pPr indent="0" lvl="0" marL="0" rtl="0" algn="l">
              <a:spcBef>
                <a:spcPts val="1200"/>
              </a:spcBef>
              <a:spcAft>
                <a:spcPts val="0"/>
              </a:spcAft>
              <a:buClr>
                <a:schemeClr val="dk1"/>
              </a:buClr>
              <a:buSzPct val="55000"/>
              <a:buFont typeface="Arial"/>
              <a:buNone/>
            </a:pPr>
            <a:r>
              <a:rPr lang="ru" sz="2000">
                <a:latin typeface="Times New Roman"/>
                <a:ea typeface="Times New Roman"/>
                <a:cs typeface="Times New Roman"/>
                <a:sym typeface="Times New Roman"/>
              </a:rPr>
              <a:t>Показано, что фоновые знания можно эффективно интегрировать в нейронную модель для аргументативного анализа.</a:t>
            </a:r>
            <a:endParaRPr sz="2000">
              <a:latin typeface="Times New Roman"/>
              <a:ea typeface="Times New Roman"/>
              <a:cs typeface="Times New Roman"/>
              <a:sym typeface="Times New Roman"/>
            </a:endParaRPr>
          </a:p>
          <a:p>
            <a:pPr indent="0" lvl="0" marL="0" rtl="0" algn="l">
              <a:spcBef>
                <a:spcPts val="1200"/>
              </a:spcBef>
              <a:spcAft>
                <a:spcPts val="0"/>
              </a:spcAft>
              <a:buClr>
                <a:schemeClr val="dk1"/>
              </a:buClr>
              <a:buSzPct val="55000"/>
              <a:buFont typeface="Arial"/>
              <a:buNone/>
            </a:pPr>
            <a:r>
              <a:t/>
            </a:r>
            <a:endParaRPr sz="2000">
              <a:latin typeface="Times New Roman"/>
              <a:ea typeface="Times New Roman"/>
              <a:cs typeface="Times New Roman"/>
              <a:sym typeface="Times New Roman"/>
            </a:endParaRPr>
          </a:p>
          <a:p>
            <a:pPr indent="0" lvl="0" marL="0" rtl="0" algn="l">
              <a:spcBef>
                <a:spcPts val="1200"/>
              </a:spcBef>
              <a:spcAft>
                <a:spcPts val="1200"/>
              </a:spcAft>
              <a:buNone/>
            </a:pPr>
            <a:r>
              <a:rPr lang="ru" sz="2000">
                <a:latin typeface="Times New Roman"/>
                <a:ea typeface="Times New Roman"/>
                <a:cs typeface="Times New Roman"/>
                <a:sym typeface="Times New Roman"/>
              </a:rPr>
              <a:t>Это один из ранних успешных примеров knowledge-enhanced argument mining.</a:t>
            </a:r>
            <a:endParaRPr>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ru">
                <a:latin typeface="Times New Roman"/>
                <a:ea typeface="Times New Roman"/>
                <a:cs typeface="Times New Roman"/>
                <a:sym typeface="Times New Roman"/>
              </a:rPr>
              <a:t>Наш проект</a:t>
            </a:r>
            <a:endParaRPr>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ru">
                <a:latin typeface="Times New Roman"/>
                <a:ea typeface="Times New Roman"/>
                <a:cs typeface="Times New Roman"/>
                <a:sym typeface="Times New Roman"/>
              </a:rPr>
              <a:t>Задача</a:t>
            </a:r>
            <a:endParaRPr>
              <a:latin typeface="Times New Roman"/>
              <a:ea typeface="Times New Roman"/>
              <a:cs typeface="Times New Roman"/>
              <a:sym typeface="Times New Roman"/>
            </a:endParaRPr>
          </a:p>
        </p:txBody>
      </p:sp>
      <p:sp>
        <p:nvSpPr>
          <p:cNvPr id="104" name="Google Shape;104;p20"/>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Font typeface="Times New Roman"/>
              <a:buChar char="●"/>
            </a:pPr>
            <a:r>
              <a:rPr lang="ru" sz="2000">
                <a:latin typeface="Times New Roman"/>
                <a:ea typeface="Times New Roman"/>
                <a:cs typeface="Times New Roman"/>
                <a:sym typeface="Times New Roman"/>
              </a:rPr>
              <a:t>Обучить модель распознавать аргументативную структуру предложения в медицинских текстах и предсказывать тип аргументных отношений (подтверждение vs. опровержение)</a:t>
            </a:r>
            <a:endParaRPr sz="2000">
              <a:latin typeface="Times New Roman"/>
              <a:ea typeface="Times New Roman"/>
              <a:cs typeface="Times New Roman"/>
              <a:sym typeface="Times New Roman"/>
            </a:endParaRPr>
          </a:p>
          <a:p>
            <a:pPr indent="0" lvl="0" marL="0" rtl="0" algn="l">
              <a:spcBef>
                <a:spcPts val="1200"/>
              </a:spcBef>
              <a:spcAft>
                <a:spcPts val="0"/>
              </a:spcAft>
              <a:buNone/>
            </a:pPr>
            <a:r>
              <a:t/>
            </a:r>
            <a:endParaRPr sz="2000"/>
          </a:p>
          <a:p>
            <a:pPr indent="0" lvl="0" marL="457200" rtl="0" algn="l">
              <a:spcBef>
                <a:spcPts val="1200"/>
              </a:spcBef>
              <a:spcAft>
                <a:spcPts val="1200"/>
              </a:spcAft>
              <a:buNone/>
            </a:pPr>
            <a:r>
              <a:t/>
            </a:r>
            <a:endParaRPr sz="2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ru">
                <a:latin typeface="Times New Roman"/>
                <a:ea typeface="Times New Roman"/>
                <a:cs typeface="Times New Roman"/>
                <a:sym typeface="Times New Roman"/>
              </a:rPr>
              <a:t>Датасет</a:t>
            </a:r>
            <a:endParaRPr>
              <a:latin typeface="Times New Roman"/>
              <a:ea typeface="Times New Roman"/>
              <a:cs typeface="Times New Roman"/>
              <a:sym typeface="Times New Roman"/>
            </a:endParaRPr>
          </a:p>
        </p:txBody>
      </p:sp>
      <p:sp>
        <p:nvSpPr>
          <p:cNvPr id="110" name="Google Shape;110;p21"/>
          <p:cNvSpPr txBox="1"/>
          <p:nvPr>
            <p:ph idx="1" type="body"/>
          </p:nvPr>
        </p:nvSpPr>
        <p:spPr>
          <a:xfrm>
            <a:off x="311700" y="1225225"/>
            <a:ext cx="8520600" cy="3354000"/>
          </a:xfrm>
          <a:prstGeom prst="rect">
            <a:avLst/>
          </a:prstGeom>
        </p:spPr>
        <p:txBody>
          <a:bodyPr anchorCtr="0" anchor="t" bIns="91425" lIns="91425" spcFirstLastPara="1" rIns="91425" wrap="square" tIns="91425">
            <a:normAutofit lnSpcReduction="10000"/>
          </a:bodyPr>
          <a:lstStyle/>
          <a:p>
            <a:pPr indent="-355600" lvl="0" marL="457200" rtl="0" algn="l">
              <a:spcBef>
                <a:spcPts val="0"/>
              </a:spcBef>
              <a:spcAft>
                <a:spcPts val="0"/>
              </a:spcAft>
              <a:buSzPts val="2000"/>
              <a:buFont typeface="Times New Roman"/>
              <a:buChar char="●"/>
            </a:pPr>
            <a:r>
              <a:rPr lang="ru" sz="2000">
                <a:latin typeface="Times New Roman"/>
                <a:ea typeface="Times New Roman"/>
                <a:cs typeface="Times New Roman"/>
                <a:sym typeface="Times New Roman"/>
              </a:rPr>
              <a:t>Датасет – </a:t>
            </a:r>
            <a:r>
              <a:rPr i="1" lang="ru" sz="2000">
                <a:latin typeface="Times New Roman"/>
                <a:ea typeface="Times New Roman"/>
                <a:cs typeface="Times New Roman"/>
                <a:sym typeface="Times New Roman"/>
              </a:rPr>
              <a:t>HiTZ/casimedicos-arg</a:t>
            </a:r>
            <a:endParaRPr i="1" sz="2000">
              <a:latin typeface="Times New Roman"/>
              <a:ea typeface="Times New Roman"/>
              <a:cs typeface="Times New Roman"/>
              <a:sym typeface="Times New Roman"/>
            </a:endParaRPr>
          </a:p>
          <a:p>
            <a:pPr indent="-355600" lvl="1" marL="914400" rtl="0" algn="l">
              <a:spcBef>
                <a:spcPts val="0"/>
              </a:spcBef>
              <a:spcAft>
                <a:spcPts val="0"/>
              </a:spcAft>
              <a:buSzPts val="2000"/>
              <a:buFont typeface="Times New Roman"/>
              <a:buChar char="○"/>
            </a:pPr>
            <a:r>
              <a:rPr lang="ru" sz="2000">
                <a:latin typeface="Times New Roman"/>
                <a:ea typeface="Times New Roman"/>
                <a:cs typeface="Times New Roman"/>
                <a:sym typeface="Times New Roman"/>
              </a:rPr>
              <a:t>данные на 4 языках </a:t>
            </a:r>
            <a:endParaRPr sz="2000">
              <a:latin typeface="Times New Roman"/>
              <a:ea typeface="Times New Roman"/>
              <a:cs typeface="Times New Roman"/>
              <a:sym typeface="Times New Roman"/>
            </a:endParaRPr>
          </a:p>
          <a:p>
            <a:pPr indent="0" lvl="0" marL="914400" rtl="0" algn="l">
              <a:spcBef>
                <a:spcPts val="1200"/>
              </a:spcBef>
              <a:spcAft>
                <a:spcPts val="0"/>
              </a:spcAft>
              <a:buNone/>
            </a:pPr>
            <a:r>
              <a:rPr lang="ru" sz="2000">
                <a:latin typeface="Times New Roman"/>
                <a:ea typeface="Times New Roman"/>
                <a:cs typeface="Times New Roman"/>
                <a:sym typeface="Times New Roman"/>
              </a:rPr>
              <a:t>- английский, французский, итальянский, испанский </a:t>
            </a:r>
            <a:endParaRPr sz="2000">
              <a:latin typeface="Times New Roman"/>
              <a:ea typeface="Times New Roman"/>
              <a:cs typeface="Times New Roman"/>
              <a:sym typeface="Times New Roman"/>
            </a:endParaRPr>
          </a:p>
          <a:p>
            <a:pPr indent="-355600" lvl="1" marL="914400" rtl="0" algn="l">
              <a:spcBef>
                <a:spcPts val="1200"/>
              </a:spcBef>
              <a:spcAft>
                <a:spcPts val="0"/>
              </a:spcAft>
              <a:buSzPts val="2000"/>
              <a:buFont typeface="Times New Roman"/>
              <a:buChar char="○"/>
            </a:pPr>
            <a:r>
              <a:rPr lang="ru" sz="2000">
                <a:latin typeface="Times New Roman"/>
                <a:ea typeface="Times New Roman"/>
                <a:cs typeface="Times New Roman"/>
                <a:sym typeface="Times New Roman"/>
              </a:rPr>
              <a:t>по 622 текста на каждом языке </a:t>
            </a:r>
            <a:endParaRPr sz="2000">
              <a:latin typeface="Times New Roman"/>
              <a:ea typeface="Times New Roman"/>
              <a:cs typeface="Times New Roman"/>
              <a:sym typeface="Times New Roman"/>
            </a:endParaRPr>
          </a:p>
          <a:p>
            <a:pPr indent="-355600" lvl="1" marL="914400" rtl="0" algn="l">
              <a:spcBef>
                <a:spcPts val="0"/>
              </a:spcBef>
              <a:spcAft>
                <a:spcPts val="0"/>
              </a:spcAft>
              <a:buSzPts val="2000"/>
              <a:buFont typeface="Times New Roman"/>
              <a:buChar char="○"/>
            </a:pPr>
            <a:r>
              <a:rPr lang="ru" sz="2000">
                <a:latin typeface="Times New Roman"/>
                <a:ea typeface="Times New Roman"/>
                <a:cs typeface="Times New Roman"/>
                <a:sym typeface="Times New Roman"/>
              </a:rPr>
              <a:t>проблемы:</a:t>
            </a:r>
            <a:endParaRPr sz="2000">
              <a:latin typeface="Times New Roman"/>
              <a:ea typeface="Times New Roman"/>
              <a:cs typeface="Times New Roman"/>
              <a:sym typeface="Times New Roman"/>
            </a:endParaRPr>
          </a:p>
          <a:p>
            <a:pPr indent="-355600" lvl="2" marL="1371600" rtl="0" algn="l">
              <a:spcBef>
                <a:spcPts val="0"/>
              </a:spcBef>
              <a:spcAft>
                <a:spcPts val="0"/>
              </a:spcAft>
              <a:buSzPts val="2000"/>
              <a:buFont typeface="Times New Roman"/>
              <a:buChar char="■"/>
            </a:pPr>
            <a:r>
              <a:rPr lang="ru" sz="2000">
                <a:latin typeface="Times New Roman"/>
                <a:ea typeface="Times New Roman"/>
                <a:cs typeface="Times New Roman"/>
                <a:sym typeface="Times New Roman"/>
              </a:rPr>
              <a:t>relations есть только в английском</a:t>
            </a:r>
            <a:endParaRPr sz="2000">
              <a:latin typeface="Times New Roman"/>
              <a:ea typeface="Times New Roman"/>
              <a:cs typeface="Times New Roman"/>
              <a:sym typeface="Times New Roman"/>
            </a:endParaRPr>
          </a:p>
          <a:p>
            <a:pPr indent="-355600" lvl="2" marL="1371600" rtl="0" algn="l">
              <a:spcBef>
                <a:spcPts val="0"/>
              </a:spcBef>
              <a:spcAft>
                <a:spcPts val="0"/>
              </a:spcAft>
              <a:buSzPts val="2000"/>
              <a:buFont typeface="Times New Roman"/>
              <a:buChar char="■"/>
            </a:pPr>
            <a:r>
              <a:rPr lang="ru" sz="2000">
                <a:latin typeface="Times New Roman"/>
                <a:ea typeface="Times New Roman"/>
                <a:cs typeface="Times New Roman"/>
                <a:sym typeface="Times New Roman"/>
              </a:rPr>
              <a:t>в других языках отсутствуют</a:t>
            </a:r>
            <a:endParaRPr sz="2000">
              <a:latin typeface="Times New Roman"/>
              <a:ea typeface="Times New Roman"/>
              <a:cs typeface="Times New Roman"/>
              <a:sym typeface="Times New Roman"/>
            </a:endParaRPr>
          </a:p>
          <a:p>
            <a:pPr indent="0" lvl="0" marL="457200" rtl="0" algn="l">
              <a:spcBef>
                <a:spcPts val="1200"/>
              </a:spcBef>
              <a:spcAft>
                <a:spcPts val="1200"/>
              </a:spcAft>
              <a:buNone/>
            </a:pPr>
            <a:r>
              <a:t/>
            </a:r>
            <a:endParaRPr sz="2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ru">
                <a:latin typeface="Times New Roman"/>
                <a:ea typeface="Times New Roman"/>
                <a:cs typeface="Times New Roman"/>
                <a:sym typeface="Times New Roman"/>
              </a:rPr>
              <a:t>Датасет</a:t>
            </a:r>
            <a:endParaRPr>
              <a:latin typeface="Times New Roman"/>
              <a:ea typeface="Times New Roman"/>
              <a:cs typeface="Times New Roman"/>
              <a:sym typeface="Times New Roman"/>
            </a:endParaRPr>
          </a:p>
        </p:txBody>
      </p:sp>
      <p:sp>
        <p:nvSpPr>
          <p:cNvPr id="116" name="Google Shape;116;p22"/>
          <p:cNvSpPr txBox="1"/>
          <p:nvPr>
            <p:ph idx="1" type="body"/>
          </p:nvPr>
        </p:nvSpPr>
        <p:spPr>
          <a:xfrm>
            <a:off x="3675050" y="2090025"/>
            <a:ext cx="5157300" cy="27039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lang="ru" sz="1400">
                <a:latin typeface="Times New Roman"/>
                <a:ea typeface="Times New Roman"/>
                <a:cs typeface="Times New Roman"/>
                <a:sym typeface="Times New Roman"/>
              </a:rPr>
              <a:t>{'id': '402_183', 'text': '[[\'QUESTION\', \'TYPE:\' …], [\'Juan,\', \'a\', \'second\', \'year\' … ]]', 'labels': "[['O', 'O', 'O', 'O', 'O', 'O', 'O'], ['O', 'O'], ['B-Premise', 'I-Premise', 'I-Premise', 'I-Premise', 'I-Premise'…] 'relations': "[['There is no doubt that the doctor-patient relationship today transcends the physical environment of the consultation room\\n', 'Answer that it is important to maintain certain professional boundaries between patients and physicians and that, unfortunately, if you make the request you will not be able to accept it, so it is better not to do so\\n', 'Support'] … ]"}</a:t>
            </a:r>
            <a:endParaRPr i="1" sz="2000"/>
          </a:p>
        </p:txBody>
      </p:sp>
      <p:sp>
        <p:nvSpPr>
          <p:cNvPr id="117" name="Google Shape;117;p22"/>
          <p:cNvSpPr txBox="1"/>
          <p:nvPr/>
        </p:nvSpPr>
        <p:spPr>
          <a:xfrm>
            <a:off x="4615175" y="1305300"/>
            <a:ext cx="3263100" cy="61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1"/>
                </a:solidFill>
                <a:latin typeface="Times New Roman"/>
                <a:ea typeface="Times New Roman"/>
                <a:cs typeface="Times New Roman"/>
                <a:sym typeface="Times New Roman"/>
              </a:rPr>
              <a:t>Пример:</a:t>
            </a:r>
            <a:endParaRPr sz="1800">
              <a:solidFill>
                <a:schemeClr val="dk1"/>
              </a:solidFill>
              <a:latin typeface="Times New Roman"/>
              <a:ea typeface="Times New Roman"/>
              <a:cs typeface="Times New Roman"/>
              <a:sym typeface="Times New Roman"/>
            </a:endParaRPr>
          </a:p>
        </p:txBody>
      </p:sp>
      <p:sp>
        <p:nvSpPr>
          <p:cNvPr id="118" name="Google Shape;118;p22"/>
          <p:cNvSpPr txBox="1"/>
          <p:nvPr/>
        </p:nvSpPr>
        <p:spPr>
          <a:xfrm>
            <a:off x="442875" y="1227575"/>
            <a:ext cx="3744900" cy="24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2000">
                <a:solidFill>
                  <a:schemeClr val="dk1"/>
                </a:solidFill>
                <a:latin typeface="Times New Roman"/>
                <a:ea typeface="Times New Roman"/>
                <a:cs typeface="Times New Roman"/>
                <a:sym typeface="Times New Roman"/>
              </a:rPr>
              <a:t>Структура:</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AutoNum type="arabicPeriod"/>
            </a:pPr>
            <a:r>
              <a:rPr lang="ru" sz="2000">
                <a:solidFill>
                  <a:schemeClr val="dk1"/>
                </a:solidFill>
                <a:latin typeface="Times New Roman"/>
                <a:ea typeface="Times New Roman"/>
                <a:cs typeface="Times New Roman"/>
                <a:sym typeface="Times New Roman"/>
              </a:rPr>
              <a:t>Текст</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AutoNum type="arabicPeriod"/>
            </a:pPr>
            <a:r>
              <a:rPr lang="ru" sz="2000">
                <a:solidFill>
                  <a:schemeClr val="dk1"/>
                </a:solidFill>
                <a:latin typeface="Times New Roman"/>
                <a:ea typeface="Times New Roman"/>
                <a:cs typeface="Times New Roman"/>
                <a:sym typeface="Times New Roman"/>
              </a:rPr>
              <a:t>BIO-разметка</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AutoNum type="arabicPeriod"/>
            </a:pPr>
            <a:r>
              <a:rPr lang="ru" sz="2000">
                <a:solidFill>
                  <a:schemeClr val="dk1"/>
                </a:solidFill>
                <a:latin typeface="Times New Roman"/>
                <a:ea typeface="Times New Roman"/>
                <a:cs typeface="Times New Roman"/>
                <a:sym typeface="Times New Roman"/>
              </a:rPr>
              <a:t>Отношения</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11700" y="549900"/>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ru" sz="3700">
                <a:latin typeface="Times New Roman"/>
                <a:ea typeface="Times New Roman"/>
                <a:cs typeface="Times New Roman"/>
                <a:sym typeface="Times New Roman"/>
              </a:rPr>
              <a:t>Идея решения - автоматическая генерация relations для других языков </a:t>
            </a:r>
            <a:endParaRPr sz="3700">
              <a:latin typeface="Times New Roman"/>
              <a:ea typeface="Times New Roman"/>
              <a:cs typeface="Times New Roman"/>
              <a:sym typeface="Times New Roman"/>
            </a:endParaRPr>
          </a:p>
        </p:txBody>
      </p:sp>
      <p:sp>
        <p:nvSpPr>
          <p:cNvPr id="124" name="Google Shape;124;p23"/>
          <p:cNvSpPr txBox="1"/>
          <p:nvPr>
            <p:ph idx="1" type="body"/>
          </p:nvPr>
        </p:nvSpPr>
        <p:spPr>
          <a:xfrm>
            <a:off x="384925" y="1381200"/>
            <a:ext cx="8520600" cy="3855000"/>
          </a:xfrm>
          <a:prstGeom prst="rect">
            <a:avLst/>
          </a:prstGeom>
        </p:spPr>
        <p:txBody>
          <a:bodyPr anchorCtr="0" anchor="t" bIns="91425" lIns="91425" spcFirstLastPara="1" rIns="91425" wrap="square" tIns="91425">
            <a:normAutofit fontScale="62500" lnSpcReduction="20000"/>
          </a:bodyPr>
          <a:lstStyle/>
          <a:p>
            <a:pPr indent="0" lvl="0" marL="0" rtl="0" algn="l">
              <a:spcBef>
                <a:spcPts val="1200"/>
              </a:spcBef>
              <a:spcAft>
                <a:spcPts val="0"/>
              </a:spcAft>
              <a:buNone/>
            </a:pPr>
            <a:r>
              <a:rPr b="1" lang="ru" sz="4150">
                <a:latin typeface="Times New Roman"/>
                <a:ea typeface="Times New Roman"/>
                <a:cs typeface="Times New Roman"/>
                <a:sym typeface="Times New Roman"/>
              </a:rPr>
              <a:t>Pipeline:</a:t>
            </a:r>
            <a:endParaRPr b="1" sz="4150">
              <a:latin typeface="Times New Roman"/>
              <a:ea typeface="Times New Roman"/>
              <a:cs typeface="Times New Roman"/>
              <a:sym typeface="Times New Roman"/>
            </a:endParaRPr>
          </a:p>
          <a:p>
            <a:pPr indent="-393303" lvl="0" marL="457200" rtl="0" algn="l">
              <a:spcBef>
                <a:spcPts val="1200"/>
              </a:spcBef>
              <a:spcAft>
                <a:spcPts val="0"/>
              </a:spcAft>
              <a:buSzPct val="100000"/>
              <a:buFont typeface="Times New Roman"/>
              <a:buAutoNum type="arabicPeriod"/>
            </a:pPr>
            <a:r>
              <a:rPr lang="ru" sz="4150">
                <a:latin typeface="Times New Roman"/>
                <a:ea typeface="Times New Roman"/>
                <a:cs typeface="Times New Roman"/>
                <a:sym typeface="Times New Roman"/>
              </a:rPr>
              <a:t>BIO → аргументы</a:t>
            </a:r>
            <a:br>
              <a:rPr lang="ru" sz="4150">
                <a:latin typeface="Times New Roman"/>
                <a:ea typeface="Times New Roman"/>
                <a:cs typeface="Times New Roman"/>
                <a:sym typeface="Times New Roman"/>
              </a:rPr>
            </a:br>
            <a:endParaRPr sz="4150">
              <a:latin typeface="Times New Roman"/>
              <a:ea typeface="Times New Roman"/>
              <a:cs typeface="Times New Roman"/>
              <a:sym typeface="Times New Roman"/>
            </a:endParaRPr>
          </a:p>
          <a:p>
            <a:pPr indent="-393303" lvl="0" marL="457200" rtl="0" algn="l">
              <a:spcBef>
                <a:spcPts val="0"/>
              </a:spcBef>
              <a:spcAft>
                <a:spcPts val="0"/>
              </a:spcAft>
              <a:buSzPct val="100000"/>
              <a:buFont typeface="Times New Roman"/>
              <a:buAutoNum type="arabicPeriod"/>
            </a:pPr>
            <a:r>
              <a:rPr lang="ru" sz="4150">
                <a:latin typeface="Times New Roman"/>
                <a:ea typeface="Times New Roman"/>
                <a:cs typeface="Times New Roman"/>
                <a:sym typeface="Times New Roman"/>
              </a:rPr>
              <a:t>вычисление эмбеддингов (multilingual-e5)</a:t>
            </a:r>
            <a:br>
              <a:rPr lang="ru" sz="4150">
                <a:latin typeface="Times New Roman"/>
                <a:ea typeface="Times New Roman"/>
                <a:cs typeface="Times New Roman"/>
                <a:sym typeface="Times New Roman"/>
              </a:rPr>
            </a:br>
            <a:endParaRPr sz="4150">
              <a:latin typeface="Times New Roman"/>
              <a:ea typeface="Times New Roman"/>
              <a:cs typeface="Times New Roman"/>
              <a:sym typeface="Times New Roman"/>
            </a:endParaRPr>
          </a:p>
          <a:p>
            <a:pPr indent="-393303" lvl="0" marL="457200" rtl="0" algn="l">
              <a:spcBef>
                <a:spcPts val="0"/>
              </a:spcBef>
              <a:spcAft>
                <a:spcPts val="0"/>
              </a:spcAft>
              <a:buSzPct val="100000"/>
              <a:buFont typeface="Times New Roman"/>
              <a:buAutoNum type="arabicPeriod"/>
            </a:pPr>
            <a:r>
              <a:rPr lang="ru" sz="4150">
                <a:latin typeface="Times New Roman"/>
                <a:ea typeface="Times New Roman"/>
                <a:cs typeface="Times New Roman"/>
                <a:sym typeface="Times New Roman"/>
              </a:rPr>
              <a:t>поиск соответствий по текстам</a:t>
            </a:r>
            <a:br>
              <a:rPr lang="ru" sz="4150">
                <a:latin typeface="Times New Roman"/>
                <a:ea typeface="Times New Roman"/>
                <a:cs typeface="Times New Roman"/>
                <a:sym typeface="Times New Roman"/>
              </a:rPr>
            </a:br>
            <a:endParaRPr sz="4150">
              <a:latin typeface="Times New Roman"/>
              <a:ea typeface="Times New Roman"/>
              <a:cs typeface="Times New Roman"/>
              <a:sym typeface="Times New Roman"/>
            </a:endParaRPr>
          </a:p>
          <a:p>
            <a:pPr indent="-393303" lvl="0" marL="457200" rtl="0" algn="l">
              <a:spcBef>
                <a:spcPts val="0"/>
              </a:spcBef>
              <a:spcAft>
                <a:spcPts val="0"/>
              </a:spcAft>
              <a:buSzPct val="100000"/>
              <a:buFont typeface="Times New Roman"/>
              <a:buAutoNum type="arabicPeriod"/>
            </a:pPr>
            <a:r>
              <a:rPr lang="ru" sz="4150">
                <a:latin typeface="Times New Roman"/>
                <a:ea typeface="Times New Roman"/>
                <a:cs typeface="Times New Roman"/>
                <a:sym typeface="Times New Roman"/>
              </a:rPr>
              <a:t>перенос меток отношений на другие сабсеты</a:t>
            </a:r>
            <a:endParaRPr sz="2000">
              <a:latin typeface="Times New Roman"/>
              <a:ea typeface="Times New Roman"/>
              <a:cs typeface="Times New Roman"/>
              <a:sym typeface="Times New Roman"/>
            </a:endParaRPr>
          </a:p>
          <a:p>
            <a:pPr indent="0" lvl="0" marL="457200" rtl="0" algn="l">
              <a:spcBef>
                <a:spcPts val="1200"/>
              </a:spcBef>
              <a:spcAft>
                <a:spcPts val="1200"/>
              </a:spcAft>
              <a:buNone/>
            </a:pPr>
            <a:r>
              <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311700" y="1741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ru">
                <a:latin typeface="Times New Roman"/>
                <a:ea typeface="Times New Roman"/>
                <a:cs typeface="Times New Roman"/>
                <a:sym typeface="Times New Roman"/>
              </a:rPr>
              <a:t>Результат обработки данных</a:t>
            </a:r>
            <a:endParaRPr>
              <a:latin typeface="Times New Roman"/>
              <a:ea typeface="Times New Roman"/>
              <a:cs typeface="Times New Roman"/>
              <a:sym typeface="Times New Roman"/>
            </a:endParaRPr>
          </a:p>
        </p:txBody>
      </p:sp>
      <p:sp>
        <p:nvSpPr>
          <p:cNvPr id="130" name="Google Shape;130;p24"/>
          <p:cNvSpPr txBox="1"/>
          <p:nvPr>
            <p:ph idx="1" type="body"/>
          </p:nvPr>
        </p:nvSpPr>
        <p:spPr>
          <a:xfrm>
            <a:off x="311700" y="1005425"/>
            <a:ext cx="8676300" cy="1080900"/>
          </a:xfrm>
          <a:prstGeom prst="rect">
            <a:avLst/>
          </a:prstGeom>
        </p:spPr>
        <p:txBody>
          <a:bodyPr anchorCtr="0" anchor="t" bIns="91425" lIns="91425" spcFirstLastPara="1" rIns="91425" wrap="square" tIns="91425">
            <a:noAutofit/>
          </a:bodyPr>
          <a:lstStyle/>
          <a:p>
            <a:pPr indent="-352108" lvl="0" marL="457200" rtl="0" algn="l">
              <a:lnSpc>
                <a:spcPct val="105000"/>
              </a:lnSpc>
              <a:spcBef>
                <a:spcPts val="1200"/>
              </a:spcBef>
              <a:spcAft>
                <a:spcPts val="0"/>
              </a:spcAft>
              <a:buSzPts val="1945"/>
              <a:buFont typeface="Times New Roman"/>
              <a:buChar char="●"/>
            </a:pPr>
            <a:r>
              <a:rPr lang="ru" sz="1945">
                <a:latin typeface="Times New Roman"/>
                <a:ea typeface="Times New Roman"/>
                <a:cs typeface="Times New Roman"/>
                <a:sym typeface="Times New Roman"/>
              </a:rPr>
              <a:t>relations сгенерированы для испанского, французского и итальянского</a:t>
            </a:r>
            <a:endParaRPr sz="1945">
              <a:latin typeface="Times New Roman"/>
              <a:ea typeface="Times New Roman"/>
              <a:cs typeface="Times New Roman"/>
              <a:sym typeface="Times New Roman"/>
            </a:endParaRPr>
          </a:p>
          <a:p>
            <a:pPr indent="-352108" lvl="0" marL="457200" rtl="0" algn="l">
              <a:lnSpc>
                <a:spcPct val="105000"/>
              </a:lnSpc>
              <a:spcBef>
                <a:spcPts val="0"/>
              </a:spcBef>
              <a:spcAft>
                <a:spcPts val="0"/>
              </a:spcAft>
              <a:buSzPts val="1945"/>
              <a:buFont typeface="Times New Roman"/>
              <a:buChar char="●"/>
            </a:pPr>
            <a:r>
              <a:rPr lang="ru" sz="1945">
                <a:latin typeface="Times New Roman"/>
                <a:ea typeface="Times New Roman"/>
                <a:cs typeface="Times New Roman"/>
                <a:sym typeface="Times New Roman"/>
              </a:rPr>
              <a:t>все документы получили связи</a:t>
            </a:r>
            <a:endParaRPr sz="1945">
              <a:latin typeface="Times New Roman"/>
              <a:ea typeface="Times New Roman"/>
              <a:cs typeface="Times New Roman"/>
              <a:sym typeface="Times New Roman"/>
            </a:endParaRPr>
          </a:p>
          <a:p>
            <a:pPr indent="0" lvl="0" marL="0" rtl="0" algn="l">
              <a:lnSpc>
                <a:spcPct val="105000"/>
              </a:lnSpc>
              <a:spcBef>
                <a:spcPts val="1200"/>
              </a:spcBef>
              <a:spcAft>
                <a:spcPts val="1200"/>
              </a:spcAft>
              <a:buSzPts val="523"/>
              <a:buNone/>
            </a:pPr>
            <a:r>
              <a:t/>
            </a:r>
            <a:endParaRPr b="1" sz="2494"/>
          </a:p>
        </p:txBody>
      </p:sp>
      <p:pic>
        <p:nvPicPr>
          <p:cNvPr id="131" name="Google Shape;131;p24" title="Снимок экрана 2026-03-22 в 23.18.21.png"/>
          <p:cNvPicPr preferRelativeResize="0"/>
          <p:nvPr/>
        </p:nvPicPr>
        <p:blipFill rotWithShape="1">
          <a:blip r:embed="rId3">
            <a:alphaModFix/>
          </a:blip>
          <a:srcRect b="564" l="0" r="0" t="554"/>
          <a:stretch/>
        </p:blipFill>
        <p:spPr>
          <a:xfrm>
            <a:off x="493338" y="2086325"/>
            <a:ext cx="8157324" cy="2841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ru">
                <a:latin typeface="Times New Roman"/>
                <a:ea typeface="Times New Roman"/>
                <a:cs typeface="Times New Roman"/>
                <a:sym typeface="Times New Roman"/>
              </a:rPr>
              <a:t>Модель </a:t>
            </a:r>
            <a:endParaRPr>
              <a:latin typeface="Times New Roman"/>
              <a:ea typeface="Times New Roman"/>
              <a:cs typeface="Times New Roman"/>
              <a:sym typeface="Times New Roman"/>
            </a:endParaRPr>
          </a:p>
        </p:txBody>
      </p:sp>
      <p:sp>
        <p:nvSpPr>
          <p:cNvPr id="137" name="Google Shape;137;p25"/>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Font typeface="Times New Roman"/>
              <a:buChar char="●"/>
            </a:pPr>
            <a:r>
              <a:rPr lang="ru" sz="2000">
                <a:latin typeface="Times New Roman"/>
                <a:ea typeface="Times New Roman"/>
                <a:cs typeface="Times New Roman"/>
                <a:sym typeface="Times New Roman"/>
              </a:rPr>
              <a:t>Используем модель </a:t>
            </a:r>
            <a:r>
              <a:rPr i="1" lang="ru" sz="2000">
                <a:latin typeface="Times New Roman"/>
                <a:ea typeface="Times New Roman"/>
                <a:cs typeface="Times New Roman"/>
                <a:sym typeface="Times New Roman"/>
              </a:rPr>
              <a:t>FacebookAI/xlm-roberta-base</a:t>
            </a:r>
            <a:endParaRPr sz="2000">
              <a:latin typeface="Times New Roman"/>
              <a:ea typeface="Times New Roman"/>
              <a:cs typeface="Times New Roman"/>
              <a:sym typeface="Times New Roman"/>
            </a:endParaRPr>
          </a:p>
          <a:p>
            <a:pPr indent="0" lvl="0" marL="457200" rtl="0" algn="l">
              <a:spcBef>
                <a:spcPts val="1200"/>
              </a:spcBef>
              <a:spcAft>
                <a:spcPts val="0"/>
              </a:spcAft>
              <a:buNone/>
            </a:pPr>
            <a:r>
              <a:t/>
            </a:r>
            <a:endParaRPr i="1" sz="2000">
              <a:latin typeface="Times New Roman"/>
              <a:ea typeface="Times New Roman"/>
              <a:cs typeface="Times New Roman"/>
              <a:sym typeface="Times New Roman"/>
            </a:endParaRPr>
          </a:p>
          <a:p>
            <a:pPr indent="-355600" lvl="0" marL="457200" rtl="0" algn="l">
              <a:spcBef>
                <a:spcPts val="1200"/>
              </a:spcBef>
              <a:spcAft>
                <a:spcPts val="0"/>
              </a:spcAft>
              <a:buSzPts val="2000"/>
              <a:buFont typeface="Times New Roman"/>
              <a:buChar char="●"/>
            </a:pPr>
            <a:r>
              <a:rPr lang="ru" sz="2000">
                <a:latin typeface="Times New Roman"/>
                <a:ea typeface="Times New Roman"/>
                <a:cs typeface="Times New Roman"/>
                <a:sym typeface="Times New Roman"/>
              </a:rPr>
              <a:t>Дообучили модель на тренировочном датасете (9536 строк)</a:t>
            </a:r>
            <a:endParaRPr sz="2000">
              <a:latin typeface="Times New Roman"/>
              <a:ea typeface="Times New Roman"/>
              <a:cs typeface="Times New Roman"/>
              <a:sym typeface="Times New Roman"/>
            </a:endParaRPr>
          </a:p>
          <a:p>
            <a:pPr indent="0" lvl="0" marL="0" rtl="0" algn="l">
              <a:spcBef>
                <a:spcPts val="1200"/>
              </a:spcBef>
              <a:spcAft>
                <a:spcPts val="0"/>
              </a:spcAft>
              <a:buNone/>
            </a:pPr>
            <a:r>
              <a:t/>
            </a:r>
            <a:endParaRPr sz="2000">
              <a:latin typeface="Times New Roman"/>
              <a:ea typeface="Times New Roman"/>
              <a:cs typeface="Times New Roman"/>
              <a:sym typeface="Times New Roman"/>
            </a:endParaRPr>
          </a:p>
          <a:p>
            <a:pPr indent="-355600" lvl="0" marL="457200" rtl="0" algn="l">
              <a:spcBef>
                <a:spcPts val="1200"/>
              </a:spcBef>
              <a:spcAft>
                <a:spcPts val="0"/>
              </a:spcAft>
              <a:buSzPts val="2000"/>
              <a:buFont typeface="Times New Roman"/>
              <a:buChar char="●"/>
            </a:pPr>
            <a:r>
              <a:rPr lang="ru" sz="2000">
                <a:latin typeface="Times New Roman"/>
                <a:ea typeface="Times New Roman"/>
                <a:cs typeface="Times New Roman"/>
                <a:sym typeface="Times New Roman"/>
              </a:rPr>
              <a:t>Проверили, как работает бейзлайн на тестовых данных</a:t>
            </a:r>
            <a:endParaRPr sz="20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ru">
                <a:latin typeface="Times New Roman"/>
                <a:ea typeface="Times New Roman"/>
                <a:cs typeface="Times New Roman"/>
                <a:sym typeface="Times New Roman"/>
              </a:rPr>
              <a:t>Работа базовой модели</a:t>
            </a:r>
            <a:endParaRPr>
              <a:latin typeface="Times New Roman"/>
              <a:ea typeface="Times New Roman"/>
              <a:cs typeface="Times New Roman"/>
              <a:sym typeface="Times New Roman"/>
            </a:endParaRPr>
          </a:p>
        </p:txBody>
      </p:sp>
      <p:pic>
        <p:nvPicPr>
          <p:cNvPr id="143" name="Google Shape;143;p26"/>
          <p:cNvPicPr preferRelativeResize="0"/>
          <p:nvPr/>
        </p:nvPicPr>
        <p:blipFill>
          <a:blip r:embed="rId3">
            <a:alphaModFix/>
          </a:blip>
          <a:stretch>
            <a:fillRect/>
          </a:stretch>
        </p:blipFill>
        <p:spPr>
          <a:xfrm>
            <a:off x="4068300" y="1147225"/>
            <a:ext cx="5036359" cy="3691475"/>
          </a:xfrm>
          <a:prstGeom prst="rect">
            <a:avLst/>
          </a:prstGeom>
          <a:noFill/>
          <a:ln>
            <a:noFill/>
          </a:ln>
        </p:spPr>
      </p:pic>
      <p:pic>
        <p:nvPicPr>
          <p:cNvPr id="144" name="Google Shape;144;p26"/>
          <p:cNvPicPr preferRelativeResize="0"/>
          <p:nvPr/>
        </p:nvPicPr>
        <p:blipFill>
          <a:blip r:embed="rId4">
            <a:alphaModFix/>
          </a:blip>
          <a:stretch>
            <a:fillRect/>
          </a:stretch>
        </p:blipFill>
        <p:spPr>
          <a:xfrm>
            <a:off x="-12" y="1147225"/>
            <a:ext cx="4314825" cy="18097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7"/>
          <p:cNvSpPr txBox="1"/>
          <p:nvPr>
            <p:ph type="title"/>
          </p:nvPr>
        </p:nvSpPr>
        <p:spPr>
          <a:xfrm>
            <a:off x="411050" y="0"/>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ru" sz="2880">
                <a:latin typeface="Courier New"/>
                <a:ea typeface="Courier New"/>
                <a:cs typeface="Courier New"/>
                <a:sym typeface="Courier New"/>
              </a:rPr>
              <a:t>Domain Adaptive Pre-training (DAPT)</a:t>
            </a:r>
            <a:endParaRPr sz="2880">
              <a:latin typeface="Courier New"/>
              <a:ea typeface="Courier New"/>
              <a:cs typeface="Courier New"/>
              <a:sym typeface="Courier New"/>
            </a:endParaRPr>
          </a:p>
        </p:txBody>
      </p:sp>
      <p:pic>
        <p:nvPicPr>
          <p:cNvPr id="150" name="Google Shape;150;p27" title="Снимок экрана 2026-03-22 в 23.00.33.png"/>
          <p:cNvPicPr preferRelativeResize="0"/>
          <p:nvPr/>
        </p:nvPicPr>
        <p:blipFill>
          <a:blip r:embed="rId3">
            <a:alphaModFix/>
          </a:blip>
          <a:stretch>
            <a:fillRect/>
          </a:stretch>
        </p:blipFill>
        <p:spPr>
          <a:xfrm>
            <a:off x="411050" y="1085900"/>
            <a:ext cx="3944474" cy="3772970"/>
          </a:xfrm>
          <a:prstGeom prst="rect">
            <a:avLst/>
          </a:prstGeom>
          <a:noFill/>
          <a:ln>
            <a:noFill/>
          </a:ln>
        </p:spPr>
      </p:pic>
      <p:sp>
        <p:nvSpPr>
          <p:cNvPr id="151" name="Google Shape;151;p27"/>
          <p:cNvSpPr txBox="1"/>
          <p:nvPr/>
        </p:nvSpPr>
        <p:spPr>
          <a:xfrm>
            <a:off x="4528500" y="1085900"/>
            <a:ext cx="4347300" cy="377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ru" sz="1600">
                <a:solidFill>
                  <a:schemeClr val="dk1"/>
                </a:solidFill>
                <a:latin typeface="Times New Roman"/>
                <a:ea typeface="Times New Roman"/>
                <a:cs typeface="Times New Roman"/>
                <a:sym typeface="Times New Roman"/>
              </a:rPr>
              <a:t>Зачем нужно:</a:t>
            </a:r>
            <a:endParaRPr b="1" sz="1600">
              <a:solidFill>
                <a:schemeClr val="dk1"/>
              </a:solidFill>
              <a:latin typeface="Times New Roman"/>
              <a:ea typeface="Times New Roman"/>
              <a:cs typeface="Times New Roman"/>
              <a:sym typeface="Times New Roman"/>
            </a:endParaRPr>
          </a:p>
          <a:p>
            <a:pPr indent="-330200" lvl="0" marL="457200" rtl="0" algn="l">
              <a:lnSpc>
                <a:spcPct val="115000"/>
              </a:lnSpc>
              <a:spcBef>
                <a:spcPts val="1200"/>
              </a:spcBef>
              <a:spcAft>
                <a:spcPts val="0"/>
              </a:spcAft>
              <a:buClr>
                <a:schemeClr val="dk1"/>
              </a:buClr>
              <a:buSzPts val="1600"/>
              <a:buFont typeface="Times New Roman"/>
              <a:buChar char="●"/>
            </a:pPr>
            <a:r>
              <a:rPr lang="ru" sz="1600">
                <a:solidFill>
                  <a:schemeClr val="dk1"/>
                </a:solidFill>
                <a:latin typeface="Times New Roman"/>
                <a:ea typeface="Times New Roman"/>
                <a:cs typeface="Times New Roman"/>
                <a:sym typeface="Times New Roman"/>
              </a:rPr>
              <a:t>Модель лучше понимает специфическую лексику и структуру медицинских аргументов.</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ru" sz="1600">
                <a:solidFill>
                  <a:schemeClr val="dk1"/>
                </a:solidFill>
                <a:latin typeface="Times New Roman"/>
                <a:ea typeface="Times New Roman"/>
                <a:cs typeface="Times New Roman"/>
                <a:sym typeface="Times New Roman"/>
              </a:rPr>
              <a:t>Повышается точность последующей классификации отношений между компонентами аргументов.</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ru" sz="1600">
                <a:solidFill>
                  <a:schemeClr val="dk1"/>
                </a:solidFill>
                <a:latin typeface="Times New Roman"/>
                <a:ea typeface="Times New Roman"/>
                <a:cs typeface="Times New Roman"/>
                <a:sym typeface="Times New Roman"/>
              </a:rPr>
              <a:t>Уменьшает разрыв между исходным корпусом (Wikipedia / Common Crawl) и целевым медицинским доменом.</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23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8"/>
          <p:cNvSpPr txBox="1"/>
          <p:nvPr>
            <p:ph type="title"/>
          </p:nvPr>
        </p:nvSpPr>
        <p:spPr>
          <a:xfrm>
            <a:off x="311700" y="0"/>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ru" sz="2880">
                <a:latin typeface="Courier New"/>
                <a:ea typeface="Courier New"/>
                <a:cs typeface="Courier New"/>
                <a:sym typeface="Courier New"/>
              </a:rPr>
              <a:t>Domain Adaptive Pre-training (DAPT)</a:t>
            </a:r>
            <a:endParaRPr sz="2880">
              <a:latin typeface="Courier New"/>
              <a:ea typeface="Courier New"/>
              <a:cs typeface="Courier New"/>
              <a:sym typeface="Courier New"/>
            </a:endParaRPr>
          </a:p>
        </p:txBody>
      </p:sp>
      <p:pic>
        <p:nvPicPr>
          <p:cNvPr id="157" name="Google Shape;157;p28" title="Снимок экрана 2026-04-06 003107.png"/>
          <p:cNvPicPr preferRelativeResize="0"/>
          <p:nvPr/>
        </p:nvPicPr>
        <p:blipFill>
          <a:blip r:embed="rId3">
            <a:alphaModFix/>
          </a:blip>
          <a:stretch>
            <a:fillRect/>
          </a:stretch>
        </p:blipFill>
        <p:spPr>
          <a:xfrm>
            <a:off x="3998600" y="983700"/>
            <a:ext cx="5145391" cy="4007401"/>
          </a:xfrm>
          <a:prstGeom prst="rect">
            <a:avLst/>
          </a:prstGeom>
          <a:noFill/>
          <a:ln>
            <a:noFill/>
          </a:ln>
        </p:spPr>
      </p:pic>
      <p:pic>
        <p:nvPicPr>
          <p:cNvPr id="158" name="Google Shape;158;p28"/>
          <p:cNvPicPr preferRelativeResize="0"/>
          <p:nvPr/>
        </p:nvPicPr>
        <p:blipFill>
          <a:blip r:embed="rId4">
            <a:alphaModFix/>
          </a:blip>
          <a:stretch>
            <a:fillRect/>
          </a:stretch>
        </p:blipFill>
        <p:spPr>
          <a:xfrm>
            <a:off x="0" y="983700"/>
            <a:ext cx="4474999" cy="18976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ru">
                <a:latin typeface="Times New Roman"/>
                <a:ea typeface="Times New Roman"/>
                <a:cs typeface="Times New Roman"/>
                <a:sym typeface="Times New Roman"/>
              </a:rPr>
              <a:t>Взвешенная функция потерь</a:t>
            </a:r>
            <a:endParaRPr>
              <a:latin typeface="Times New Roman"/>
              <a:ea typeface="Times New Roman"/>
              <a:cs typeface="Times New Roman"/>
              <a:sym typeface="Times New Roman"/>
            </a:endParaRPr>
          </a:p>
        </p:txBody>
      </p:sp>
      <p:sp>
        <p:nvSpPr>
          <p:cNvPr id="164" name="Google Shape;164;p29"/>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Times New Roman"/>
              <a:buChar char="●"/>
            </a:pPr>
            <a:r>
              <a:rPr lang="ru">
                <a:latin typeface="Times New Roman"/>
                <a:ea typeface="Times New Roman"/>
                <a:cs typeface="Times New Roman"/>
                <a:sym typeface="Times New Roman"/>
              </a:rPr>
              <a:t>Посчитали веса классов</a:t>
            </a:r>
            <a:endParaRPr>
              <a:latin typeface="Times New Roman"/>
              <a:ea typeface="Times New Roman"/>
              <a:cs typeface="Times New Roman"/>
              <a:sym typeface="Times New Roman"/>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Font typeface="Times New Roman"/>
              <a:buChar char="●"/>
            </a:pPr>
            <a:r>
              <a:rPr lang="ru">
                <a:latin typeface="Times New Roman"/>
                <a:ea typeface="Times New Roman"/>
                <a:cs typeface="Times New Roman"/>
                <a:sym typeface="Times New Roman"/>
              </a:rPr>
              <a:t>Задали новую функцию потерь с учетом весов</a:t>
            </a:r>
            <a:endParaRPr>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pic>
        <p:nvPicPr>
          <p:cNvPr id="165" name="Google Shape;165;p29"/>
          <p:cNvPicPr preferRelativeResize="0"/>
          <p:nvPr/>
        </p:nvPicPr>
        <p:blipFill>
          <a:blip r:embed="rId3">
            <a:alphaModFix/>
          </a:blip>
          <a:stretch>
            <a:fillRect/>
          </a:stretch>
        </p:blipFill>
        <p:spPr>
          <a:xfrm>
            <a:off x="373350" y="1592125"/>
            <a:ext cx="6368075" cy="605075"/>
          </a:xfrm>
          <a:prstGeom prst="rect">
            <a:avLst/>
          </a:prstGeom>
          <a:noFill/>
          <a:ln>
            <a:noFill/>
          </a:ln>
        </p:spPr>
      </p:pic>
      <p:pic>
        <p:nvPicPr>
          <p:cNvPr id="166" name="Google Shape;166;p29"/>
          <p:cNvPicPr preferRelativeResize="0"/>
          <p:nvPr/>
        </p:nvPicPr>
        <p:blipFill>
          <a:blip r:embed="rId4">
            <a:alphaModFix/>
          </a:blip>
          <a:stretch>
            <a:fillRect/>
          </a:stretch>
        </p:blipFill>
        <p:spPr>
          <a:xfrm>
            <a:off x="373350" y="2642100"/>
            <a:ext cx="5763850" cy="21817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ru">
                <a:latin typeface="Times New Roman"/>
                <a:ea typeface="Times New Roman"/>
                <a:cs typeface="Times New Roman"/>
                <a:sym typeface="Times New Roman"/>
              </a:rPr>
              <a:t>Взвешенная функция потерь</a:t>
            </a:r>
            <a:endParaRPr>
              <a:latin typeface="Times New Roman"/>
              <a:ea typeface="Times New Roman"/>
              <a:cs typeface="Times New Roman"/>
              <a:sym typeface="Times New Roman"/>
            </a:endParaRPr>
          </a:p>
        </p:txBody>
      </p:sp>
      <p:pic>
        <p:nvPicPr>
          <p:cNvPr id="172" name="Google Shape;172;p30"/>
          <p:cNvPicPr preferRelativeResize="0"/>
          <p:nvPr/>
        </p:nvPicPr>
        <p:blipFill>
          <a:blip r:embed="rId3">
            <a:alphaModFix/>
          </a:blip>
          <a:stretch>
            <a:fillRect/>
          </a:stretch>
        </p:blipFill>
        <p:spPr>
          <a:xfrm>
            <a:off x="4292175" y="1147225"/>
            <a:ext cx="4851835" cy="3691475"/>
          </a:xfrm>
          <a:prstGeom prst="rect">
            <a:avLst/>
          </a:prstGeom>
          <a:noFill/>
          <a:ln>
            <a:noFill/>
          </a:ln>
        </p:spPr>
      </p:pic>
      <p:pic>
        <p:nvPicPr>
          <p:cNvPr id="173" name="Google Shape;173;p30"/>
          <p:cNvPicPr preferRelativeResize="0"/>
          <p:nvPr/>
        </p:nvPicPr>
        <p:blipFill>
          <a:blip r:embed="rId4">
            <a:alphaModFix/>
          </a:blip>
          <a:stretch>
            <a:fillRect/>
          </a:stretch>
        </p:blipFill>
        <p:spPr>
          <a:xfrm>
            <a:off x="61875" y="1214975"/>
            <a:ext cx="4775300" cy="20174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ru">
                <a:latin typeface="Times New Roman"/>
                <a:ea typeface="Times New Roman"/>
                <a:cs typeface="Times New Roman"/>
                <a:sym typeface="Times New Roman"/>
              </a:rPr>
              <a:t>Подбор порога threshold</a:t>
            </a:r>
            <a:endParaRPr>
              <a:latin typeface="Times New Roman"/>
              <a:ea typeface="Times New Roman"/>
              <a:cs typeface="Times New Roman"/>
              <a:sym typeface="Times New Roman"/>
            </a:endParaRPr>
          </a:p>
        </p:txBody>
      </p:sp>
      <p:pic>
        <p:nvPicPr>
          <p:cNvPr id="179" name="Google Shape;179;p31"/>
          <p:cNvPicPr preferRelativeResize="0"/>
          <p:nvPr/>
        </p:nvPicPr>
        <p:blipFill>
          <a:blip r:embed="rId3">
            <a:alphaModFix/>
          </a:blip>
          <a:stretch>
            <a:fillRect/>
          </a:stretch>
        </p:blipFill>
        <p:spPr>
          <a:xfrm>
            <a:off x="4438675" y="1147225"/>
            <a:ext cx="4705330" cy="3691475"/>
          </a:xfrm>
          <a:prstGeom prst="rect">
            <a:avLst/>
          </a:prstGeom>
          <a:noFill/>
          <a:ln>
            <a:noFill/>
          </a:ln>
        </p:spPr>
      </p:pic>
      <p:pic>
        <p:nvPicPr>
          <p:cNvPr id="180" name="Google Shape;180;p31"/>
          <p:cNvPicPr preferRelativeResize="0"/>
          <p:nvPr/>
        </p:nvPicPr>
        <p:blipFill>
          <a:blip r:embed="rId4">
            <a:alphaModFix/>
          </a:blip>
          <a:stretch>
            <a:fillRect/>
          </a:stretch>
        </p:blipFill>
        <p:spPr>
          <a:xfrm>
            <a:off x="0" y="1458950"/>
            <a:ext cx="4705325" cy="196305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ru"/>
              <a:t>Сравнение работы двух моделей</a:t>
            </a:r>
            <a:endParaRPr/>
          </a:p>
        </p:txBody>
      </p:sp>
      <p:sp>
        <p:nvSpPr>
          <p:cNvPr id="186" name="Google Shape;186;p32"/>
          <p:cNvSpPr txBox="1"/>
          <p:nvPr/>
        </p:nvSpPr>
        <p:spPr>
          <a:xfrm>
            <a:off x="311700" y="1186775"/>
            <a:ext cx="8368200" cy="6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2000">
                <a:solidFill>
                  <a:schemeClr val="dk1"/>
                </a:solidFill>
                <a:latin typeface="Times New Roman"/>
                <a:ea typeface="Times New Roman"/>
                <a:cs typeface="Times New Roman"/>
                <a:sym typeface="Times New Roman"/>
              </a:rPr>
              <a:t>Результаты google-bert/bert-base-multilingual-cased</a:t>
            </a:r>
            <a:endParaRPr sz="2000">
              <a:solidFill>
                <a:schemeClr val="dk1"/>
              </a:solidFill>
              <a:latin typeface="Times New Roman"/>
              <a:ea typeface="Times New Roman"/>
              <a:cs typeface="Times New Roman"/>
              <a:sym typeface="Times New Roman"/>
            </a:endParaRPr>
          </a:p>
        </p:txBody>
      </p:sp>
      <p:pic>
        <p:nvPicPr>
          <p:cNvPr id="187" name="Google Shape;187;p32"/>
          <p:cNvPicPr preferRelativeResize="0"/>
          <p:nvPr/>
        </p:nvPicPr>
        <p:blipFill>
          <a:blip r:embed="rId3">
            <a:alphaModFix/>
          </a:blip>
          <a:stretch>
            <a:fillRect/>
          </a:stretch>
        </p:blipFill>
        <p:spPr>
          <a:xfrm>
            <a:off x="4744225" y="1823975"/>
            <a:ext cx="3935673" cy="3014725"/>
          </a:xfrm>
          <a:prstGeom prst="rect">
            <a:avLst/>
          </a:prstGeom>
          <a:noFill/>
          <a:ln>
            <a:noFill/>
          </a:ln>
        </p:spPr>
      </p:pic>
      <p:pic>
        <p:nvPicPr>
          <p:cNvPr id="188" name="Google Shape;188;p32"/>
          <p:cNvPicPr preferRelativeResize="0"/>
          <p:nvPr/>
        </p:nvPicPr>
        <p:blipFill>
          <a:blip r:embed="rId4">
            <a:alphaModFix/>
          </a:blip>
          <a:stretch>
            <a:fillRect/>
          </a:stretch>
        </p:blipFill>
        <p:spPr>
          <a:xfrm>
            <a:off x="515125" y="1781175"/>
            <a:ext cx="4229100" cy="15811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3"/>
          <p:cNvSpPr txBox="1"/>
          <p:nvPr>
            <p:ph type="title"/>
          </p:nvPr>
        </p:nvSpPr>
        <p:spPr>
          <a:xfrm>
            <a:off x="380700" y="2926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ru">
                <a:latin typeface="Times New Roman"/>
                <a:ea typeface="Times New Roman"/>
                <a:cs typeface="Times New Roman"/>
                <a:sym typeface="Times New Roman"/>
              </a:rPr>
              <a:t>Итоги проекта</a:t>
            </a:r>
            <a:endParaRPr>
              <a:latin typeface="Times New Roman"/>
              <a:ea typeface="Times New Roman"/>
              <a:cs typeface="Times New Roman"/>
              <a:sym typeface="Times New Roman"/>
            </a:endParaRPr>
          </a:p>
        </p:txBody>
      </p:sp>
      <p:sp>
        <p:nvSpPr>
          <p:cNvPr id="194" name="Google Shape;194;p33"/>
          <p:cNvSpPr txBox="1"/>
          <p:nvPr/>
        </p:nvSpPr>
        <p:spPr>
          <a:xfrm>
            <a:off x="380700" y="1266450"/>
            <a:ext cx="8451600" cy="35586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Clr>
                <a:schemeClr val="dk1"/>
              </a:buClr>
              <a:buSzPts val="2000"/>
              <a:buFont typeface="Times New Roman"/>
              <a:buAutoNum type="arabicPeriod"/>
            </a:pPr>
            <a:r>
              <a:rPr lang="ru" sz="2000">
                <a:solidFill>
                  <a:schemeClr val="dk1"/>
                </a:solidFill>
                <a:latin typeface="Times New Roman"/>
                <a:ea typeface="Times New Roman"/>
                <a:cs typeface="Times New Roman"/>
                <a:sym typeface="Times New Roman"/>
              </a:rPr>
              <a:t>Подготовили тексты для качественной работы мультиязычной модели и аугментации данных</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AutoNum type="arabicPeriod"/>
            </a:pPr>
            <a:r>
              <a:rPr lang="ru" sz="2000">
                <a:solidFill>
                  <a:schemeClr val="dk1"/>
                </a:solidFill>
                <a:latin typeface="Times New Roman"/>
                <a:ea typeface="Times New Roman"/>
                <a:cs typeface="Times New Roman"/>
                <a:sym typeface="Times New Roman"/>
              </a:rPr>
              <a:t>Предобучили модель на дополнительных неразмеченных текстах</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AutoNum type="arabicPeriod"/>
            </a:pPr>
            <a:r>
              <a:rPr lang="ru" sz="2000">
                <a:solidFill>
                  <a:schemeClr val="dk1"/>
                </a:solidFill>
                <a:latin typeface="Times New Roman"/>
                <a:ea typeface="Times New Roman"/>
                <a:cs typeface="Times New Roman"/>
                <a:sym typeface="Times New Roman"/>
              </a:rPr>
              <a:t>Вывели взвешенную функцию потерь для борьбы с дисбалансом классов</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AutoNum type="arabicPeriod"/>
            </a:pPr>
            <a:r>
              <a:rPr lang="ru" sz="2000">
                <a:solidFill>
                  <a:schemeClr val="dk1"/>
                </a:solidFill>
                <a:latin typeface="Times New Roman"/>
                <a:ea typeface="Times New Roman"/>
                <a:cs typeface="Times New Roman"/>
                <a:sym typeface="Times New Roman"/>
              </a:rPr>
              <a:t>Сделали подбор порога для принятия решения моделью под разные задачи</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AutoNum type="arabicPeriod"/>
            </a:pPr>
            <a:r>
              <a:rPr lang="ru" sz="2000">
                <a:solidFill>
                  <a:schemeClr val="dk1"/>
                </a:solidFill>
                <a:latin typeface="Times New Roman"/>
                <a:ea typeface="Times New Roman"/>
                <a:cs typeface="Times New Roman"/>
                <a:sym typeface="Times New Roman"/>
              </a:rPr>
              <a:t>Сравнили работу двух аналогичных моделей в условиях одного пайплайна</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4"/>
          <p:cNvSpPr txBox="1"/>
          <p:nvPr>
            <p:ph type="title"/>
          </p:nvPr>
        </p:nvSpPr>
        <p:spPr>
          <a:xfrm>
            <a:off x="380700" y="2926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ru">
                <a:latin typeface="Times New Roman"/>
                <a:ea typeface="Times New Roman"/>
                <a:cs typeface="Times New Roman"/>
                <a:sym typeface="Times New Roman"/>
              </a:rPr>
              <a:t>Итоги проекта</a:t>
            </a:r>
            <a:endParaRPr>
              <a:latin typeface="Times New Roman"/>
              <a:ea typeface="Times New Roman"/>
              <a:cs typeface="Times New Roman"/>
              <a:sym typeface="Times New Roman"/>
            </a:endParaRPr>
          </a:p>
        </p:txBody>
      </p:sp>
      <p:pic>
        <p:nvPicPr>
          <p:cNvPr id="200" name="Google Shape;200;p34" title="Снимок экрана 2026-04-06 в 00.59.31.png"/>
          <p:cNvPicPr preferRelativeResize="0"/>
          <p:nvPr/>
        </p:nvPicPr>
        <p:blipFill>
          <a:blip r:embed="rId3">
            <a:alphaModFix/>
          </a:blip>
          <a:stretch>
            <a:fillRect/>
          </a:stretch>
        </p:blipFill>
        <p:spPr>
          <a:xfrm>
            <a:off x="495000" y="1123925"/>
            <a:ext cx="6322399" cy="3438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5"/>
          <p:cNvSpPr txBox="1"/>
          <p:nvPr>
            <p:ph type="title"/>
          </p:nvPr>
        </p:nvSpPr>
        <p:spPr>
          <a:xfrm>
            <a:off x="311700" y="209200"/>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ru">
                <a:latin typeface="Times New Roman"/>
                <a:ea typeface="Times New Roman"/>
                <a:cs typeface="Times New Roman"/>
                <a:sym typeface="Times New Roman"/>
              </a:rPr>
              <a:t>Литература</a:t>
            </a:r>
            <a:endParaRPr>
              <a:latin typeface="Times New Roman"/>
              <a:ea typeface="Times New Roman"/>
              <a:cs typeface="Times New Roman"/>
              <a:sym typeface="Times New Roman"/>
            </a:endParaRPr>
          </a:p>
        </p:txBody>
      </p:sp>
      <p:sp>
        <p:nvSpPr>
          <p:cNvPr id="206" name="Google Shape;206;p35"/>
          <p:cNvSpPr txBox="1"/>
          <p:nvPr>
            <p:ph idx="1" type="body"/>
          </p:nvPr>
        </p:nvSpPr>
        <p:spPr>
          <a:xfrm>
            <a:off x="311700" y="1225225"/>
            <a:ext cx="8780100" cy="33540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Font typeface="Times New Roman"/>
              <a:buAutoNum type="arabicPeriod"/>
            </a:pPr>
            <a:r>
              <a:rPr lang="ru" sz="1500">
                <a:latin typeface="Times New Roman"/>
                <a:ea typeface="Times New Roman"/>
                <a:cs typeface="Times New Roman"/>
                <a:sym typeface="Times New Roman"/>
              </a:rPr>
              <a:t>Kobbe, J., Opitz, J., Becker, M., Hulpuş, I., Stuckenschmidt, H., &amp; Frank, A. (2019). </a:t>
            </a:r>
            <a:r>
              <a:rPr i="1" lang="ru" sz="1500">
                <a:latin typeface="Times New Roman"/>
                <a:ea typeface="Times New Roman"/>
                <a:cs typeface="Times New Roman"/>
                <a:sym typeface="Times New Roman"/>
              </a:rPr>
              <a:t>Exploiting background knowledge for argumentative relation classification</a:t>
            </a:r>
            <a:r>
              <a:rPr lang="ru" sz="1500">
                <a:latin typeface="Times New Roman"/>
                <a:ea typeface="Times New Roman"/>
                <a:cs typeface="Times New Roman"/>
                <a:sym typeface="Times New Roman"/>
              </a:rPr>
              <a:t>. OpenAccess Series in Informatics, 70. https://doi.org/10.4230/OASIcs.LDK.2019.8</a:t>
            </a:r>
            <a:endParaRPr sz="1500">
              <a:latin typeface="Times New Roman"/>
              <a:ea typeface="Times New Roman"/>
              <a:cs typeface="Times New Roman"/>
              <a:sym typeface="Times New Roman"/>
            </a:endParaRPr>
          </a:p>
          <a:p>
            <a:pPr indent="-323850" lvl="0" marL="457200" rtl="0" algn="l">
              <a:spcBef>
                <a:spcPts val="0"/>
              </a:spcBef>
              <a:spcAft>
                <a:spcPts val="0"/>
              </a:spcAft>
              <a:buSzPts val="1500"/>
              <a:buFont typeface="Times New Roman"/>
              <a:buAutoNum type="arabicPeriod"/>
            </a:pPr>
            <a:r>
              <a:rPr lang="ru" sz="1500">
                <a:latin typeface="Times New Roman"/>
                <a:ea typeface="Times New Roman"/>
                <a:cs typeface="Times New Roman"/>
                <a:sym typeface="Times New Roman"/>
              </a:rPr>
              <a:t>Stab, C., &amp; Gurevych, I. (2017). </a:t>
            </a:r>
            <a:r>
              <a:rPr i="1" lang="ru" sz="1500">
                <a:latin typeface="Times New Roman"/>
                <a:ea typeface="Times New Roman"/>
                <a:cs typeface="Times New Roman"/>
                <a:sym typeface="Times New Roman"/>
              </a:rPr>
              <a:t>Parsing Argumentation Structures in Persuasive Essays</a:t>
            </a:r>
            <a:r>
              <a:rPr lang="ru" sz="1500">
                <a:latin typeface="Times New Roman"/>
                <a:ea typeface="Times New Roman"/>
                <a:cs typeface="Times New Roman"/>
                <a:sym typeface="Times New Roman"/>
              </a:rPr>
              <a:t>. https://doi.org/10.1162/COLI</a:t>
            </a:r>
            <a:endParaRPr sz="2000"/>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